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00e3c1b0a7495e" /><Relationship Type="http://schemas.openxmlformats.org/officeDocument/2006/relationships/extended-properties" Target="/docProps/app.xml" Id="Rd77d87fcae37469e" /><Relationship Type="http://schemas.openxmlformats.org/officeDocument/2006/relationships/officeDocument" Target="/ppt/presentation.xml" Id="R060e8432e54040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680475a33243f9"/>
  </p:sldMasterIdLst>
  <p:notesMasterIdLst>
    <p:notesMasterId xmlns:r="http://schemas.openxmlformats.org/officeDocument/2006/relationships" r:id="R060c549882f54cae"/>
  </p:notesMasterIdLst>
  <p:sldIdLst>
    <p:sldId xmlns:r="http://schemas.openxmlformats.org/officeDocument/2006/relationships" id="256" r:id="R5553b492b215460a"/>
    <p:sldId xmlns:r="http://schemas.openxmlformats.org/officeDocument/2006/relationships" id="257" r:id="R1a447a5de10f46fd"/>
    <p:sldId xmlns:r="http://schemas.openxmlformats.org/officeDocument/2006/relationships" id="258" r:id="Rd89c60f4d9934261"/>
    <p:sldId xmlns:r="http://schemas.openxmlformats.org/officeDocument/2006/relationships" id="259" r:id="R2f892ea8277e4249"/>
    <p:sldId xmlns:r="http://schemas.openxmlformats.org/officeDocument/2006/relationships" id="260" r:id="Rbab7eced71f74a8c"/>
    <p:sldId xmlns:r="http://schemas.openxmlformats.org/officeDocument/2006/relationships" id="261" r:id="Rde711729eb844dcd"/>
    <p:sldId xmlns:r="http://schemas.openxmlformats.org/officeDocument/2006/relationships" id="262" r:id="R3efbac9f3f4447ef"/>
    <p:sldId xmlns:r="http://schemas.openxmlformats.org/officeDocument/2006/relationships" id="263" r:id="Rcd0023e8d3634b8c"/>
    <p:sldId xmlns:r="http://schemas.openxmlformats.org/officeDocument/2006/relationships" id="264" r:id="R9926ca95765240bd"/>
    <p:sldId xmlns:r="http://schemas.openxmlformats.org/officeDocument/2006/relationships" id="265" r:id="R6499998194954c8f"/>
    <p:sldId xmlns:r="http://schemas.openxmlformats.org/officeDocument/2006/relationships" id="266" r:id="R94f6ba7e89314b9b"/>
    <p:sldId xmlns:r="http://schemas.openxmlformats.org/officeDocument/2006/relationships" id="267" r:id="R9f0fc798396942a2"/>
    <p:sldId xmlns:r="http://schemas.openxmlformats.org/officeDocument/2006/relationships" id="268" r:id="R57f64cf832c24546"/>
    <p:sldId xmlns:r="http://schemas.openxmlformats.org/officeDocument/2006/relationships" id="269" r:id="Rd5be2a0880ea4d6d"/>
    <p:sldId xmlns:r="http://schemas.openxmlformats.org/officeDocument/2006/relationships" id="270" r:id="R12578af2bb7b43f1"/>
    <p:sldId xmlns:r="http://schemas.openxmlformats.org/officeDocument/2006/relationships" id="271" r:id="R69b7b4747e9f4234"/>
    <p:sldId xmlns:r="http://schemas.openxmlformats.org/officeDocument/2006/relationships" id="272" r:id="R5aed4b8ac07f48dd"/>
    <p:sldId xmlns:r="http://schemas.openxmlformats.org/officeDocument/2006/relationships" id="273" r:id="R278a1af5448240a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680475a33243f9" /><Relationship Type="http://schemas.openxmlformats.org/officeDocument/2006/relationships/theme" Target="/ppt/theme/theme1.xml" Id="Rda501362b7454bea" /><Relationship Type="http://schemas.openxmlformats.org/officeDocument/2006/relationships/notesMaster" Target="/ppt/notesMasters/notesMaster1.xml" Id="R060c549882f54cae" /><Relationship Type="http://schemas.openxmlformats.org/officeDocument/2006/relationships/presProps" Target="/ppt/presProps.xml" Id="R616fd2914ef142b2" /><Relationship Type="http://schemas.openxmlformats.org/officeDocument/2006/relationships/viewProps" Target="/ppt/viewProps.xml" Id="R11c2dd659cf643f0" /><Relationship Type="http://schemas.openxmlformats.org/officeDocument/2006/relationships/tableStyles" Target="/ppt/tableStyles.xml" Id="Ra3e54916bc904056" /><Relationship Type="http://schemas.openxmlformats.org/officeDocument/2006/relationships/slide" Target="/ppt/slides/slide1.xml" Id="R5553b492b215460a" /><Relationship Type="http://schemas.openxmlformats.org/officeDocument/2006/relationships/slide" Target="/ppt/slides/slide2.xml" Id="R1a447a5de10f46fd" /><Relationship Type="http://schemas.openxmlformats.org/officeDocument/2006/relationships/slide" Target="/ppt/slides/slide3.xml" Id="Rd89c60f4d9934261" /><Relationship Type="http://schemas.openxmlformats.org/officeDocument/2006/relationships/slide" Target="/ppt/slides/slide4.xml" Id="R2f892ea8277e4249" /><Relationship Type="http://schemas.openxmlformats.org/officeDocument/2006/relationships/slide" Target="/ppt/slides/slide5.xml" Id="Rbab7eced71f74a8c" /><Relationship Type="http://schemas.openxmlformats.org/officeDocument/2006/relationships/slide" Target="/ppt/slides/slide6.xml" Id="Rde711729eb844dcd" /><Relationship Type="http://schemas.openxmlformats.org/officeDocument/2006/relationships/slide" Target="/ppt/slides/slide7.xml" Id="R3efbac9f3f4447ef" /><Relationship Type="http://schemas.openxmlformats.org/officeDocument/2006/relationships/slide" Target="/ppt/slides/slide8.xml" Id="Rcd0023e8d3634b8c" /><Relationship Type="http://schemas.openxmlformats.org/officeDocument/2006/relationships/slide" Target="/ppt/slides/slide9.xml" Id="R9926ca95765240bd" /><Relationship Type="http://schemas.openxmlformats.org/officeDocument/2006/relationships/slide" Target="/ppt/slides/slide10.xml" Id="R6499998194954c8f" /><Relationship Type="http://schemas.openxmlformats.org/officeDocument/2006/relationships/slide" Target="/ppt/slides/slide11.xml" Id="R94f6ba7e89314b9b" /><Relationship Type="http://schemas.openxmlformats.org/officeDocument/2006/relationships/slide" Target="/ppt/slides/slide12.xml" Id="R9f0fc798396942a2" /><Relationship Type="http://schemas.openxmlformats.org/officeDocument/2006/relationships/slide" Target="/ppt/slides/slide13.xml" Id="R57f64cf832c24546" /><Relationship Type="http://schemas.openxmlformats.org/officeDocument/2006/relationships/slide" Target="/ppt/slides/slide14.xml" Id="Rd5be2a0880ea4d6d" /><Relationship Type="http://schemas.openxmlformats.org/officeDocument/2006/relationships/slide" Target="/ppt/slides/slide15.xml" Id="R12578af2bb7b43f1" /><Relationship Type="http://schemas.openxmlformats.org/officeDocument/2006/relationships/slide" Target="/ppt/slides/slide16.xml" Id="R69b7b4747e9f4234" /><Relationship Type="http://schemas.openxmlformats.org/officeDocument/2006/relationships/slide" Target="/ppt/slides/slide17.xml" Id="R5aed4b8ac07f48dd" /><Relationship Type="http://schemas.openxmlformats.org/officeDocument/2006/relationships/slide" Target="/ppt/slides/slide18.xml" Id="R278a1af5448240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f690df7853040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758ee7919943c6" /><Relationship Type="http://schemas.openxmlformats.org/officeDocument/2006/relationships/notesMaster" Target="/ppt/notesMasters/notesMaster1.xml" Id="Rdcb0f7c9c3d648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644dba32fc4097" /><Relationship Type="http://schemas.openxmlformats.org/officeDocument/2006/relationships/notesMaster" Target="/ppt/notesMasters/notesMaster1.xml" Id="R6fee544566284d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3b72e97c7948a8" /><Relationship Type="http://schemas.openxmlformats.org/officeDocument/2006/relationships/notesMaster" Target="/ppt/notesMasters/notesMaster1.xml" Id="R3244dd316d1849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3eedd1e7cb4047" /><Relationship Type="http://schemas.openxmlformats.org/officeDocument/2006/relationships/notesMaster" Target="/ppt/notesMasters/notesMaster1.xml" Id="Rd407cfd6b7214b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c7e393f40e4c2e" /><Relationship Type="http://schemas.openxmlformats.org/officeDocument/2006/relationships/notesMaster" Target="/ppt/notesMasters/notesMaster1.xml" Id="Rb58ec66037ac4a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bf980ab3a648b1" /><Relationship Type="http://schemas.openxmlformats.org/officeDocument/2006/relationships/notesMaster" Target="/ppt/notesMasters/notesMaster1.xml" Id="R7bfe2e4a757244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d888dfc3d742da" /><Relationship Type="http://schemas.openxmlformats.org/officeDocument/2006/relationships/notesMaster" Target="/ppt/notesMasters/notesMaster1.xml" Id="R8a0f0b35f96048a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0f91f9765c94d1a" /><Relationship Type="http://schemas.openxmlformats.org/officeDocument/2006/relationships/notesMaster" Target="/ppt/notesMasters/notesMaster1.xml" Id="Ra09e9a45291d4c4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43a4ecbcf70458a" /><Relationship Type="http://schemas.openxmlformats.org/officeDocument/2006/relationships/notesMaster" Target="/ppt/notesMasters/notesMaster1.xml" Id="Rd6427e3ea3654ed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285681e2d6d4b62" /><Relationship Type="http://schemas.openxmlformats.org/officeDocument/2006/relationships/notesMaster" Target="/ppt/notesMasters/notesMaster1.xml" Id="R86c4133c0628490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6f19bf10204405d" /><Relationship Type="http://schemas.openxmlformats.org/officeDocument/2006/relationships/notesMaster" Target="/ppt/notesMasters/notesMaster1.xml" Id="R6c7b2bae9945460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b0b301787d042cf" /><Relationship Type="http://schemas.openxmlformats.org/officeDocument/2006/relationships/notesMaster" Target="/ppt/notesMasters/notesMaster1.xml" Id="Ra403d5545c1f4c8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6400ccf7bad4c24" /><Relationship Type="http://schemas.openxmlformats.org/officeDocument/2006/relationships/notesMaster" Target="/ppt/notesMasters/notesMaster1.xml" Id="Rd6739a2edf47479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a571872571c45e1" /><Relationship Type="http://schemas.openxmlformats.org/officeDocument/2006/relationships/notesMaster" Target="/ppt/notesMasters/notesMaster1.xml" Id="R075eb16dc13340b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508260677484ccb" /><Relationship Type="http://schemas.openxmlformats.org/officeDocument/2006/relationships/notesMaster" Target="/ppt/notesMasters/notesMaster1.xml" Id="R4dda5dd3338848b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86b13b52abf463d" /><Relationship Type="http://schemas.openxmlformats.org/officeDocument/2006/relationships/notesMaster" Target="/ppt/notesMasters/notesMaster1.xml" Id="R69fd485490a7497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eae43161c6d4166" /><Relationship Type="http://schemas.openxmlformats.org/officeDocument/2006/relationships/notesMaster" Target="/ppt/notesMasters/notesMaster1.xml" Id="Rd1c7b7c395914ec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db81468f4404cbd" /><Relationship Type="http://schemas.openxmlformats.org/officeDocument/2006/relationships/notesMaster" Target="/ppt/notesMasters/notesMaster1.xml" Id="Rdd6705f74c4d44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c458cbd86946f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c517da3f2ad411b" /><Relationship Type="http://schemas.openxmlformats.org/officeDocument/2006/relationships/slideLayout" Target="/ppt/slideLayouts/slideLayout2.xml" Id="R91662f3755cb4a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662f3755cb4a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d3366cc65a415e" /><Relationship Type="http://schemas.openxmlformats.org/officeDocument/2006/relationships/image" Target="/ppt/media/image.png" Id="R03c7510bee24487c" /><Relationship Type="http://schemas.openxmlformats.org/officeDocument/2006/relationships/image" Target="/ppt/media/image.svg" Id="Ra1c9bf0c49564609" /><Relationship Type="http://schemas.openxmlformats.org/officeDocument/2006/relationships/image" Target="/ppt/media/image2.png" Id="R3fb0e4d302974563" /><Relationship Type="http://schemas.openxmlformats.org/officeDocument/2006/relationships/image" Target="/ppt/media/image2.svg" Id="R9ac8745d28664eba" /><Relationship Type="http://schemas.openxmlformats.org/officeDocument/2006/relationships/image" Target="/ppt/media/image3.png" Id="R897aa9fc7f0b422c" /><Relationship Type="http://schemas.openxmlformats.org/officeDocument/2006/relationships/image" Target="/ppt/media/image3.svg" Id="R49cc3d19138d4a8e" /><Relationship Type="http://schemas.openxmlformats.org/officeDocument/2006/relationships/image" Target="/ppt/media/image4.png" Id="R203ca8250d30486a" /><Relationship Type="http://schemas.openxmlformats.org/officeDocument/2006/relationships/image" Target="/ppt/media/image4.svg" Id="R0bb2138cfd684ea3" /><Relationship Type="http://schemas.openxmlformats.org/officeDocument/2006/relationships/notesSlide" Target="/ppt/notesSlides/notesSlide1.xml" Id="R1c6dbb620f3848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bbc5bc453e46f3" /><Relationship Type="http://schemas.openxmlformats.org/officeDocument/2006/relationships/image" Target="/ppt/media/image5.png" Id="Ra4750f918bb64f04" /><Relationship Type="http://schemas.openxmlformats.org/officeDocument/2006/relationships/image" Target="/ppt/media/image5.svg" Id="R4ce9a2827d974ef6" /><Relationship Type="http://schemas.openxmlformats.org/officeDocument/2006/relationships/image" Target="/ppt/media/image6.png" Id="R9e23410271f74ce4" /><Relationship Type="http://schemas.openxmlformats.org/officeDocument/2006/relationships/image" Target="/ppt/media/image6.svg" Id="Rffb5bd23e2714363" /><Relationship Type="http://schemas.openxmlformats.org/officeDocument/2006/relationships/image" Target="/ppt/media/image7.png" Id="R8cc31eab2e75488a" /><Relationship Type="http://schemas.openxmlformats.org/officeDocument/2006/relationships/image" Target="/ppt/media/image7.svg" Id="R998c8752f81c4799" /><Relationship Type="http://schemas.openxmlformats.org/officeDocument/2006/relationships/image" Target="/ppt/media/image8.png" Id="R3640ee80894c410d" /><Relationship Type="http://schemas.openxmlformats.org/officeDocument/2006/relationships/image" Target="/ppt/media/image8.svg" Id="Re0940e6feb344f87" /><Relationship Type="http://schemas.openxmlformats.org/officeDocument/2006/relationships/image" Target="/ppt/media/image9.png" Id="Reaf419ad0c4b48a8" /><Relationship Type="http://schemas.openxmlformats.org/officeDocument/2006/relationships/image" Target="/ppt/media/image9.svg" Id="R3d23fdb1c99a420a" /><Relationship Type="http://schemas.openxmlformats.org/officeDocument/2006/relationships/image" Target="/ppt/media/image10.png" Id="R038616df0c784a6b" /><Relationship Type="http://schemas.openxmlformats.org/officeDocument/2006/relationships/image" Target="/ppt/media/image10.svg" Id="Ree96222a825a4a17" /><Relationship Type="http://schemas.openxmlformats.org/officeDocument/2006/relationships/notesSlide" Target="/ppt/notesSlides/notesSlide2.xml" Id="R3d836f28bbba4e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a16515610e4a1c" /><Relationship Type="http://schemas.openxmlformats.org/officeDocument/2006/relationships/notesSlide" Target="/ppt/notesSlides/notesSlide3.xml" Id="R30d2071f62b744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5a80d1b30d4e64" /><Relationship Type="http://schemas.openxmlformats.org/officeDocument/2006/relationships/notesSlide" Target="/ppt/notesSlides/notesSlide4.xml" Id="R5f519884a6ec45f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a5c0f7cbe04b8b" /><Relationship Type="http://schemas.openxmlformats.org/officeDocument/2006/relationships/notesSlide" Target="/ppt/notesSlides/notesSlide5.xml" Id="R3e82824712764f9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a42da1db8d4389" /><Relationship Type="http://schemas.openxmlformats.org/officeDocument/2006/relationships/image" Target="/ppt/media/image11.png" Id="R0a9766b08bf7459c" /><Relationship Type="http://schemas.openxmlformats.org/officeDocument/2006/relationships/image" Target="/ppt/media/image11.svg" Id="R10a6a7f07c5845cb" /><Relationship Type="http://schemas.openxmlformats.org/officeDocument/2006/relationships/image" Target="/ppt/media/image12.png" Id="R313aa287fee644f7" /><Relationship Type="http://schemas.openxmlformats.org/officeDocument/2006/relationships/image" Target="/ppt/media/image12.svg" Id="R49f368e550a74b39" /><Relationship Type="http://schemas.openxmlformats.org/officeDocument/2006/relationships/image" Target="/ppt/media/image13.png" Id="R25412840711b406d" /><Relationship Type="http://schemas.openxmlformats.org/officeDocument/2006/relationships/image" Target="/ppt/media/image13.svg" Id="R190b4dc3eced4b6f" /><Relationship Type="http://schemas.openxmlformats.org/officeDocument/2006/relationships/image" Target="/ppt/media/image14.png" Id="R5f949f953a6f41be" /><Relationship Type="http://schemas.openxmlformats.org/officeDocument/2006/relationships/image" Target="/ppt/media/image14.svg" Id="Rf076bfa7db3c4c05" /><Relationship Type="http://schemas.openxmlformats.org/officeDocument/2006/relationships/image" Target="/ppt/media/image15.png" Id="Rd83e3e47734d4016" /><Relationship Type="http://schemas.openxmlformats.org/officeDocument/2006/relationships/image" Target="/ppt/media/image15.svg" Id="Rb8bf411a905145b2" /><Relationship Type="http://schemas.openxmlformats.org/officeDocument/2006/relationships/notesSlide" Target="/ppt/notesSlides/notesSlide6.xml" Id="R976f3a335a77409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3952a3154d43fa" /><Relationship Type="http://schemas.openxmlformats.org/officeDocument/2006/relationships/notesSlide" Target="/ppt/notesSlides/notesSlide7.xml" Id="Rb066986ce8fa44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375f2f8c5141f0" /><Relationship Type="http://schemas.openxmlformats.org/officeDocument/2006/relationships/image" Target="/ppt/media/image16.png" Id="R3376083c8e664dc5" /><Relationship Type="http://schemas.openxmlformats.org/officeDocument/2006/relationships/image" Target="/ppt/media/image16.svg" Id="R4365c6a0cddc4e0d" /><Relationship Type="http://schemas.openxmlformats.org/officeDocument/2006/relationships/image" Target="/ppt/media/image17.png" Id="Rc2597a9b0ecf4beb" /><Relationship Type="http://schemas.openxmlformats.org/officeDocument/2006/relationships/image" Target="/ppt/media/image17.svg" Id="Rd012ee0ccae1411c" /><Relationship Type="http://schemas.openxmlformats.org/officeDocument/2006/relationships/image" Target="/ppt/media/image18.png" Id="R1dd0e9d399b94eb3" /><Relationship Type="http://schemas.openxmlformats.org/officeDocument/2006/relationships/image" Target="/ppt/media/image18.svg" Id="R6dabdc0c635a4480" /><Relationship Type="http://schemas.openxmlformats.org/officeDocument/2006/relationships/image" Target="/ppt/media/image19.png" Id="R2092688ac1724d7c" /><Relationship Type="http://schemas.openxmlformats.org/officeDocument/2006/relationships/image" Target="/ppt/media/image19.svg" Id="R237634c6ff2c4187" /><Relationship Type="http://schemas.openxmlformats.org/officeDocument/2006/relationships/image" Target="/ppt/media/image20.png" Id="R97576b4154e9422e" /><Relationship Type="http://schemas.openxmlformats.org/officeDocument/2006/relationships/image" Target="/ppt/media/image20.svg" Id="Rd808c1ffd6654311" /><Relationship Type="http://schemas.openxmlformats.org/officeDocument/2006/relationships/notesSlide" Target="/ppt/notesSlides/notesSlide8.xml" Id="R39998564762e448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c3305948dd49a4" /><Relationship Type="http://schemas.openxmlformats.org/officeDocument/2006/relationships/notesSlide" Target="/ppt/notesSlides/notesSlide9.xml" Id="Rd108428c57214a3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9988b306f74c9b" /><Relationship Type="http://schemas.openxmlformats.org/officeDocument/2006/relationships/image" Target="/ppt/media/image21.png" Id="R5eed6a9200c4452a" /><Relationship Type="http://schemas.openxmlformats.org/officeDocument/2006/relationships/image" Target="/ppt/media/image21.svg" Id="Re37b356c27db4239" /><Relationship Type="http://schemas.openxmlformats.org/officeDocument/2006/relationships/image" Target="/ppt/media/image22.png" Id="R7c2f04b77a69432c" /><Relationship Type="http://schemas.openxmlformats.org/officeDocument/2006/relationships/image" Target="/ppt/media/image22.svg" Id="R5f2d1d61c5cd4f59" /><Relationship Type="http://schemas.openxmlformats.org/officeDocument/2006/relationships/image" Target="/ppt/media/image23.png" Id="Redd2251cc82d476f" /><Relationship Type="http://schemas.openxmlformats.org/officeDocument/2006/relationships/image" Target="/ppt/media/image23.svg" Id="R26e71c2d20cd4d46" /><Relationship Type="http://schemas.openxmlformats.org/officeDocument/2006/relationships/image" Target="/ppt/media/image24.png" Id="Re9bb038dd355489e" /><Relationship Type="http://schemas.openxmlformats.org/officeDocument/2006/relationships/image" Target="/ppt/media/image24.svg" Id="Rd0ffb72d8bd34ff3" /><Relationship Type="http://schemas.openxmlformats.org/officeDocument/2006/relationships/image" Target="/ppt/media/image25.png" Id="Re2d69118ffd84d3a" /><Relationship Type="http://schemas.openxmlformats.org/officeDocument/2006/relationships/image" Target="/ppt/media/image25.svg" Id="Rcc37e26906df4315" /><Relationship Type="http://schemas.openxmlformats.org/officeDocument/2006/relationships/notesSlide" Target="/ppt/notesSlides/notesSlide10.xml" Id="R5a21fa8bd3b74c4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a728b3f85345b7" /><Relationship Type="http://schemas.openxmlformats.org/officeDocument/2006/relationships/image" Target="/ppt/media/image26.png" Id="Rd8a64dc4d7314d35" /><Relationship Type="http://schemas.openxmlformats.org/officeDocument/2006/relationships/image" Target="/ppt/media/image26.svg" Id="R71074ffd57574f75" /><Relationship Type="http://schemas.openxmlformats.org/officeDocument/2006/relationships/image" Target="/ppt/media/image27.png" Id="R484b8e5e5cfe4b7f" /><Relationship Type="http://schemas.openxmlformats.org/officeDocument/2006/relationships/image" Target="/ppt/media/image27.svg" Id="Re825011b04d6434c" /><Relationship Type="http://schemas.openxmlformats.org/officeDocument/2006/relationships/image" Target="/ppt/media/image28.png" Id="R0adafcc8ccf4456b" /><Relationship Type="http://schemas.openxmlformats.org/officeDocument/2006/relationships/image" Target="/ppt/media/image28.svg" Id="Rf01204ec5c184288" /><Relationship Type="http://schemas.openxmlformats.org/officeDocument/2006/relationships/image" Target="/ppt/media/image29.png" Id="Rbc11415437ee4e73" /><Relationship Type="http://schemas.openxmlformats.org/officeDocument/2006/relationships/image" Target="/ppt/media/image29.svg" Id="Ra3a8a5c16b654c20" /><Relationship Type="http://schemas.openxmlformats.org/officeDocument/2006/relationships/image" Target="/ppt/media/image30.png" Id="Ra0790406f17b4cbf" /><Relationship Type="http://schemas.openxmlformats.org/officeDocument/2006/relationships/image" Target="/ppt/media/image30.svg" Id="Rde64a3199d314822" /><Relationship Type="http://schemas.openxmlformats.org/officeDocument/2006/relationships/notesSlide" Target="/ppt/notesSlides/notesSlide11.xml" Id="Re006a104650a4d9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c97032dde2404d" /><Relationship Type="http://schemas.openxmlformats.org/officeDocument/2006/relationships/notesSlide" Target="/ppt/notesSlides/notesSlide12.xml" Id="R5d9d75abaea844b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d2b1c519154421" /><Relationship Type="http://schemas.openxmlformats.org/officeDocument/2006/relationships/notesSlide" Target="/ppt/notesSlides/notesSlide13.xml" Id="Rebeccf722b81428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c6d6f6c7974e98" /><Relationship Type="http://schemas.openxmlformats.org/officeDocument/2006/relationships/image" Target="/ppt/media/image31.png" Id="R20e0e2363f8b4302" /><Relationship Type="http://schemas.openxmlformats.org/officeDocument/2006/relationships/image" Target="/ppt/media/image31.svg" Id="Rd83b78d725894453" /><Relationship Type="http://schemas.openxmlformats.org/officeDocument/2006/relationships/image" Target="/ppt/media/image32.png" Id="R02deaf7cc5f54ea9" /><Relationship Type="http://schemas.openxmlformats.org/officeDocument/2006/relationships/image" Target="/ppt/media/image32.svg" Id="Re42e18d200f74485" /><Relationship Type="http://schemas.openxmlformats.org/officeDocument/2006/relationships/image" Target="/ppt/media/image33.png" Id="Rec2e9abdef3f439b" /><Relationship Type="http://schemas.openxmlformats.org/officeDocument/2006/relationships/image" Target="/ppt/media/image33.svg" Id="Rf1b5d352f76c4740" /><Relationship Type="http://schemas.openxmlformats.org/officeDocument/2006/relationships/image" Target="/ppt/media/image34.png" Id="Rb2f4fd0640504683" /><Relationship Type="http://schemas.openxmlformats.org/officeDocument/2006/relationships/image" Target="/ppt/media/image34.svg" Id="R678eb52459d847a0" /><Relationship Type="http://schemas.openxmlformats.org/officeDocument/2006/relationships/image" Target="/ppt/media/image35.png" Id="R9e76044d98744555" /><Relationship Type="http://schemas.openxmlformats.org/officeDocument/2006/relationships/image" Target="/ppt/media/image35.svg" Id="R12457563a8ba491b" /><Relationship Type="http://schemas.openxmlformats.org/officeDocument/2006/relationships/notesSlide" Target="/ppt/notesSlides/notesSlide14.xml" Id="R350cecef203b4d5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dd5df34b99483a" /><Relationship Type="http://schemas.openxmlformats.org/officeDocument/2006/relationships/notesSlide" Target="/ppt/notesSlides/notesSlide15.xml" Id="R955ffaf7667b425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d2afa5404a48e1" /><Relationship Type="http://schemas.openxmlformats.org/officeDocument/2006/relationships/image" Target="/ppt/media/image36.png" Id="Rc0db75fe9baf4b98" /><Relationship Type="http://schemas.openxmlformats.org/officeDocument/2006/relationships/image" Target="/ppt/media/image36.svg" Id="R8d6e5035c3b04120" /><Relationship Type="http://schemas.openxmlformats.org/officeDocument/2006/relationships/image" Target="/ppt/media/image37.png" Id="R5e34f46732e946fc" /><Relationship Type="http://schemas.openxmlformats.org/officeDocument/2006/relationships/image" Target="/ppt/media/image37.svg" Id="Ra56a6379411d46d7" /><Relationship Type="http://schemas.openxmlformats.org/officeDocument/2006/relationships/image" Target="/ppt/media/image38.png" Id="Rf5915b7aad0e402c" /><Relationship Type="http://schemas.openxmlformats.org/officeDocument/2006/relationships/image" Target="/ppt/media/image38.svg" Id="R266622e7174d4107" /><Relationship Type="http://schemas.openxmlformats.org/officeDocument/2006/relationships/image" Target="/ppt/media/image39.png" Id="R57f62260216744aa" /><Relationship Type="http://schemas.openxmlformats.org/officeDocument/2006/relationships/image" Target="/ppt/media/image39.svg" Id="R50c470431cee4067" /><Relationship Type="http://schemas.openxmlformats.org/officeDocument/2006/relationships/image" Target="/ppt/media/image40.png" Id="R7c368d845b564de2" /><Relationship Type="http://schemas.openxmlformats.org/officeDocument/2006/relationships/image" Target="/ppt/media/image40.svg" Id="Ra3bf265383ec4b4e" /><Relationship Type="http://schemas.openxmlformats.org/officeDocument/2006/relationships/notesSlide" Target="/ppt/notesSlides/notesSlide16.xml" Id="Rbecdeba92d7840a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a96c974f714aa6" /><Relationship Type="http://schemas.openxmlformats.org/officeDocument/2006/relationships/image" Target="/ppt/media/image41.png" Id="R90d10b36699144ae" /><Relationship Type="http://schemas.openxmlformats.org/officeDocument/2006/relationships/image" Target="/ppt/media/image41.svg" Id="R8e8bcbdacbcc4dc3" /><Relationship Type="http://schemas.openxmlformats.org/officeDocument/2006/relationships/image" Target="/ppt/media/image42.png" Id="R0ec3d57d3c614a9f" /><Relationship Type="http://schemas.openxmlformats.org/officeDocument/2006/relationships/image" Target="/ppt/media/image42.svg" Id="R93aa538ffb3640ef" /><Relationship Type="http://schemas.openxmlformats.org/officeDocument/2006/relationships/image" Target="/ppt/media/image43.png" Id="R39f1e1c8cc0c4666" /><Relationship Type="http://schemas.openxmlformats.org/officeDocument/2006/relationships/image" Target="/ppt/media/image43.svg" Id="Ra262eef5a49c4525" /><Relationship Type="http://schemas.openxmlformats.org/officeDocument/2006/relationships/image" Target="/ppt/media/image44.png" Id="R9006071288464695" /><Relationship Type="http://schemas.openxmlformats.org/officeDocument/2006/relationships/image" Target="/ppt/media/image44.svg" Id="R3ef10fa0619c480d" /><Relationship Type="http://schemas.openxmlformats.org/officeDocument/2006/relationships/notesSlide" Target="/ppt/notesSlides/notesSlide17.xml" Id="Ra45ed82ff22541d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3b7010c0b443f6" /><Relationship Type="http://schemas.openxmlformats.org/officeDocument/2006/relationships/notesSlide" Target="/ppt/notesSlides/notesSlide18.xml" Id="R2c5eaa455d1448a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5A658A-C12B-4753-A929-C08C71E7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879667-FBF5-4769-9E11-1DA551B55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0"/>
            <a:ext cx="276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A0987B-A5F3-420B-A8B6-DFE96BD5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-381000"/>
            <a:ext cx="95250" cy="781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768AA5-FA78-4261-98EA-17A1D70C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BCCE01-B3F0-42FE-8080-1B18D916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4C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AB4C5"/>
                </a:solidFill>
                <a:latin typeface="Aptos"/>
                <a:ea typeface="Aptos"/>
                <a:cs typeface="Aptos"/>
              </a:rPr>
              <a:t>MSDS 432 Group 4 | Smart City Zero-Disk IoT Infrastructure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C337E9-6676-4BD2-9BB7-615E5DAF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AB4C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AB4C5"/>
                </a:solidFill>
                <a:latin typeface="Aptos"/>
                <a:ea typeface="Aptos"/>
                <a:cs typeface="Aptos"/>
              </a:rPr>
              <a:t>01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0DA258-5B20-4912-9CD7-34DF26C4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AD7F70-9DC3-4CD7-93F1-FA942832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D6D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DD6D0"/>
                </a:solidFill>
                <a:latin typeface="Aptos"/>
                <a:ea typeface="Aptos"/>
                <a:cs typeface="Aptos"/>
              </a:rPr>
              <a:t>PHASE 3 IMPLEMENTATION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BD20E3-6B45-45F8-88FC-941693A0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7429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Smart City Zero-Disk IoT Infrastructure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01DBF4-56EB-439D-82B6-52D2B953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752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4C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AB4C5"/>
                </a:solidFill>
                <a:latin typeface="Aptos"/>
                <a:ea typeface="Aptos"/>
                <a:cs typeface="Aptos"/>
              </a:rPr>
              <a:t>A complete backend data engineering platform with live ingestion, hot/cold storage, cloud runtime, and reviewer-ready reporting.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867921-2C63-4611-8255-70761E6E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819150"/>
            <a:ext cx="723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DEF5A7-E1CA-4D65-9D82-B3692ECB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762000"/>
            <a:ext cx="723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1"/>
          </a:solidFill>
          <a:ln xmlns:a="http://schemas.openxmlformats.org/drawingml/2006/main" w="11430">
            <a:solidFill>
              <a:srgbClr val="3DD6D0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c7510bee24487c">
            <a:extLst>
              <a:ext uri="{96DAC541-7B7A-43D3-8B79-37D633B846F1}">
                <asvg:svgBlip xmlns:asvg="http://schemas.microsoft.com/office/drawing/2016/SVG/main" r:embed="Ra1c9bf0c4956460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544175" y="847725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3BDC58-8A28-4825-AB11-2C0F36BD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4000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1CC5B6-A895-4139-BA8E-7C02DD8B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38450"/>
            <a:ext cx="4000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5F903F-22C8-4A2A-868A-3A8F564F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000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41EFD3-E0F1-43C4-8B8B-41AFA64C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C948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7C948"/>
                </a:solidFill>
                <a:latin typeface="Aptos Display"/>
                <a:ea typeface="Aptos Display"/>
                <a:cs typeface="Aptos Display"/>
              </a:rPr>
              <a:t>60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66D70A-5B9F-4D76-AE1E-191BFF88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38500"/>
            <a:ext cx="2667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point final implementation package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81C82D-6A25-4301-95D9-CF545F30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862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D6D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3DD6D0"/>
                </a:solidFill>
                <a:latin typeface="Aptos Display"/>
                <a:ea typeface="Aptos Display"/>
                <a:cs typeface="Aptos Display"/>
              </a:rPr>
              <a:t>18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792474-0F4C-4FDD-B8B1-6EAFD7E1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81450"/>
            <a:ext cx="2667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slide enterprise demo story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DAF9B5-DCDE-4946-A851-34D53DD4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971800"/>
            <a:ext cx="4095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design blueprint is now an operational system: Go ingestion, TimescaleDB, Pub/Sub, GCS, BigQuery, GKE, CI/CD, Streamlit, Grafana, backups, restore tests, and cost controls.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18AA1D-CC59-481C-AEBD-DE24464C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E2BA49-F42C-4518-8F32-452EF874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81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0CC303-1461-4672-BA20-C8418CE0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1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8CB585-737D-431E-9D06-47C53D6B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53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2622DA-A824-404F-BC72-A2EB79BD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959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8"/>
          </a:solidFill>
          <a:ln xmlns:a="http://schemas.openxmlformats.org/drawingml/2006/main" w="11430">
            <a:solidFill>
              <a:srgbClr val="84D65A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b0e4d302974563">
            <a:extLst>
              <a:ext uri="{96DAC541-7B7A-43D3-8B79-37D633B846F1}">
                <asvg:svgBlip xmlns:asvg="http://schemas.microsoft.com/office/drawing/2016/SVG/main" r:embed="R9ac8745d28664eb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42975" y="538162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7625EC-D2F6-43E9-A6D5-39BB6786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95900"/>
            <a:ext cx="1600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4D65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4D65A"/>
                </a:solidFill>
                <a:latin typeface="Aptos"/>
                <a:ea typeface="Aptos"/>
                <a:cs typeface="Aptos"/>
              </a:rPr>
              <a:t>Backend proof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163D14-8D5F-4EAD-ACA3-1778AF20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2057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live multi-source ingestion and durable storage paths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27FC04-ED2C-49B6-B464-01EA3D86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23875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FD5464-D47D-4E28-B4CA-7A4CB841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181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D9DAAC-B494-45F5-9CF0-51F2294D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12445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1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5A9F31-16E2-4270-BADB-6A4A5FCB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353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255563-3C49-400A-830F-09028601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2959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8"/>
          </a:solidFill>
          <a:ln xmlns:a="http://schemas.openxmlformats.org/drawingml/2006/main" w="11430">
            <a:solidFill>
              <a:srgbClr val="3DD6D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7aa9fc7f0b422c">
            <a:extLst>
              <a:ext uri="{96DAC541-7B7A-43D3-8B79-37D633B846F1}">
                <asvg:svgBlip xmlns:asvg="http://schemas.microsoft.com/office/drawing/2016/SVG/main" r:embed="R49cc3d19138d4a8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705225" y="538162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442CF4-DCFE-4C01-A95E-CAB112EE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295900"/>
            <a:ext cx="1600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D6D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DD6D0"/>
                </a:solidFill>
                <a:latin typeface="Aptos"/>
                <a:ea typeface="Aptos"/>
                <a:cs typeface="Aptos"/>
              </a:rPr>
              <a:t>Reporting proof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C91741-274F-4BA0-8EC5-0EB7EA50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772150"/>
            <a:ext cx="2057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Streamlit for city story, Grafana for operations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706F0A-DFE3-463C-B318-06FDF3E8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3875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A800801-91B6-4CB2-8EF7-7228071A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181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B49F83C-13B5-47DD-8B6E-073A3BF8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12445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1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55365DF-6CBA-494E-AB7A-DE74280A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353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82168F-2FC8-4EBA-8E54-3B16A54C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959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8"/>
          </a:solidFill>
          <a:ln xmlns:a="http://schemas.openxmlformats.org/drawingml/2006/main" w="11430">
            <a:solidFill>
              <a:srgbClr val="F7C948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3ca8250d30486a">
            <a:extLst>
              <a:ext uri="{96DAC541-7B7A-43D3-8B79-37D633B846F1}">
                <asvg:svgBlip xmlns:asvg="http://schemas.microsoft.com/office/drawing/2016/SVG/main" r:embed="R0bb2138cfd684ea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67475" y="538162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062C939-DC26-45EF-A27B-6DA70210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295900"/>
            <a:ext cx="1600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C94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C948"/>
                </a:solidFill>
                <a:latin typeface="Aptos"/>
                <a:ea typeface="Aptos"/>
                <a:cs typeface="Aptos"/>
              </a:rPr>
              <a:t>Ops proof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C0E0C01-72A6-4241-8945-C1E7B15F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772150"/>
            <a:ext cx="2057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runtime health, release promotion, recovery, cost guardrails</a:t>
            </a:r>
          </a:p>
        </p:txBody>
      </p:sp>
    </p:spTree>
    <p:extLst>
      <p:ext uri="{BB962C8B-B14F-4D97-AF65-F5344CB8AC3E}">
        <p14:creationId xmlns:p14="http://schemas.microsoft.com/office/powerpoint/2010/main" val="111278615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4EA31D-0E6F-42E4-82D0-D4D4A4AF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0881BF-5487-4DD4-B1DC-49B94EB9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0"/>
            <a:ext cx="276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1168B6-D975-4D30-B95B-15DD99BD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-381000"/>
            <a:ext cx="95250" cy="781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08F20B-FBF3-4CA8-94F1-4620EE8C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3CF936-51C1-47C8-B5BB-1A01C57D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4C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AB4C5"/>
                </a:solidFill>
                <a:latin typeface="Aptos"/>
                <a:ea typeface="Aptos"/>
                <a:cs typeface="Aptos"/>
              </a:rPr>
              <a:t>MSDS 432 Group 4 | Smart City Zero-Disk IoT Infrastructure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B1F5FF-42FD-4316-ADCE-A2D5E929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AB4C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AB4C5"/>
                </a:solidFill>
                <a:latin typeface="Aptos"/>
                <a:ea typeface="Aptos"/>
                <a:cs typeface="Aptos"/>
              </a:rPr>
              <a:t>02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3F2460-880D-423E-A655-4855D159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4AB63F-E1A3-49E9-A0E6-E49C2FAA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D6D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DD6D0"/>
                </a:solidFill>
                <a:latin typeface="Aptos"/>
                <a:ea typeface="Aptos"/>
                <a:cs typeface="Aptos"/>
              </a:rPr>
              <a:t>EXECUTIVE STORY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A81FE8-9795-4244-8078-AB3E33AB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9048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Phase 3 proves the platform works across the full data lifecycle.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B47368-A341-490A-AAA6-5B6DDD01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4C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AB4C5"/>
                </a:solidFill>
                <a:latin typeface="Aptos"/>
                <a:ea typeface="Aptos"/>
                <a:cs typeface="Aptos"/>
              </a:rPr>
              <a:t>The project is positioned as an enterprise data platform: ingest, validate, store, operate, report, and recover.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554604-D8F0-473F-B33E-378A3174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233362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58FD10-2739-4B98-933E-C08BB37A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233362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1E223B-25E6-47DF-B6BA-A465B17F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233362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1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959126-5BF3-454B-B1FD-D6FED93E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908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088D10-B069-44A6-A78A-16551E12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8"/>
          </a:solidFill>
          <a:ln xmlns:a="http://schemas.openxmlformats.org/drawingml/2006/main" w="11430">
            <a:solidFill>
              <a:srgbClr val="3DD6D0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750f918bb64f04">
            <a:extLst>
              <a:ext uri="{96DAC541-7B7A-43D3-8B79-37D633B846F1}">
                <asvg:svgBlip xmlns:asvg="http://schemas.microsoft.com/office/drawing/2016/SVG/main" r:embed="R4ce9a2827d974ef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42975" y="301942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F0557F-89C2-44C9-A500-4A07385C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33700"/>
            <a:ext cx="1457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D6D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DD6D0"/>
                </a:solidFill>
                <a:latin typeface="Aptos"/>
                <a:ea typeface="Aptos"/>
                <a:cs typeface="Aptos"/>
              </a:rPr>
              <a:t>Ingest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69DFB3-8C09-406E-869B-307ECD32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9950"/>
            <a:ext cx="1914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Go services poll simulator, air, weather, mobility, and water sources.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F4659A-222D-4710-BB8F-6A6D28F0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76550"/>
            <a:ext cx="233362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FAA870-CF1E-422A-A600-5A3A7CB2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19400"/>
            <a:ext cx="233362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951D90-DC3E-49A1-9601-8D3FAB41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62250"/>
            <a:ext cx="233362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1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94A358-5C0F-4E84-AF2C-5A9D2F37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9908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7C482C-8D88-4430-97E0-B9FF508A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337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8"/>
          </a:solidFill>
          <a:ln xmlns:a="http://schemas.openxmlformats.org/drawingml/2006/main" w="11430">
            <a:solidFill>
              <a:srgbClr val="84D65A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23410271f74ce4">
            <a:extLst>
              <a:ext uri="{96DAC541-7B7A-43D3-8B79-37D633B846F1}">
                <asvg:svgBlip xmlns:asvg="http://schemas.microsoft.com/office/drawing/2016/SVG/main" r:embed="Rffb5bd23e271436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590925" y="301942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D06E7B-D31F-461A-84A0-258BEEBB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933700"/>
            <a:ext cx="1457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4D65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4D65A"/>
                </a:solidFill>
                <a:latin typeface="Aptos"/>
                <a:ea typeface="Aptos"/>
                <a:cs typeface="Aptos"/>
              </a:rPr>
              <a:t>Store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7D399C-92D2-45C7-8C68-EFEC9348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09950"/>
            <a:ext cx="1914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TimescaleDB handles hot data; Parquet/GCS/BigQuery handle cold analytics.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A7B549-55A4-4F41-82D7-CF9F67B2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876550"/>
            <a:ext cx="233362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EDBC0C-D554-4E52-8FFD-7FCA9FE9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19400"/>
            <a:ext cx="233362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B60C22-7B13-4F9C-AD45-F50BD5C3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62250"/>
            <a:ext cx="233362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1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FA4727-DA18-4505-884D-9986266C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9908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28C8F5-69C1-4E33-B986-BC6237B6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337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8"/>
          </a:solidFill>
          <a:ln xmlns:a="http://schemas.openxmlformats.org/drawingml/2006/main" w="11430">
            <a:solidFill>
              <a:srgbClr val="F7C948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c31eab2e75488a">
            <a:extLst>
              <a:ext uri="{96DAC541-7B7A-43D3-8B79-37D633B846F1}">
                <asvg:svgBlip xmlns:asvg="http://schemas.microsoft.com/office/drawing/2016/SVG/main" r:embed="R998c8752f81c479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38875" y="301942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154606-EFFD-492C-852C-C8A5B661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33700"/>
            <a:ext cx="1457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C94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C948"/>
                </a:solidFill>
                <a:latin typeface="Aptos"/>
                <a:ea typeface="Aptos"/>
                <a:cs typeface="Aptos"/>
              </a:rPr>
              <a:t>Operate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81E3BB-0A6A-48EE-8702-DF0BC4EE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09950"/>
            <a:ext cx="1914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GKE, CI/CD, promotion checks, backups, restore tests, and cost modes.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AE0625-AE51-45D7-8135-E7B8D155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76550"/>
            <a:ext cx="233362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BAB1CE-B158-4C44-980E-169B12B1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19400"/>
            <a:ext cx="233362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A48AED-2B55-4C14-AB98-C6463599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62250"/>
            <a:ext cx="233362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1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EE1B3E-B137-474C-B038-A908DFE1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9908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408E571-BE44-434D-B7F9-059F4033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337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8"/>
          </a:solidFill>
          <a:ln xmlns:a="http://schemas.openxmlformats.org/drawingml/2006/main" w="11430">
            <a:solidFill>
              <a:srgbClr val="F97373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40ee80894c410d">
            <a:extLst>
              <a:ext uri="{96DAC541-7B7A-43D3-8B79-37D633B846F1}">
                <asvg:svgBlip xmlns:asvg="http://schemas.microsoft.com/office/drawing/2016/SVG/main" r:embed="Re0940e6feb344f8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886825" y="301942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235CCBF-8C73-431C-A0F8-BD97415D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33700"/>
            <a:ext cx="1457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9737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97373"/>
                </a:solidFill>
                <a:latin typeface="Aptos"/>
                <a:ea typeface="Aptos"/>
                <a:cs typeface="Aptos"/>
              </a:rPr>
              <a:t>Report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800D7C1-FD7B-4E15-8D3A-FD2D7B5D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09950"/>
            <a:ext cx="1914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Streamlit and Grafana create complementary reviewer surfaces.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7EF093D-7B02-4B58-A8C2-AA6B0EB6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00600"/>
            <a:ext cx="34290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0BE6363-631D-45B0-B3C9-9D6870EC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743450"/>
            <a:ext cx="34290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15B7174-E226-41BA-A661-88852889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86300"/>
            <a:ext cx="34290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1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9BACD9A-428E-4F15-811D-5840EC7B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49149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1DC6094-9A60-4D1A-BB1E-FB128488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8577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8"/>
          </a:solidFill>
          <a:ln xmlns:a="http://schemas.openxmlformats.org/drawingml/2006/main" w="11430">
            <a:solidFill>
              <a:srgbClr val="3DD6D0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f419ad0c4b48a8">
            <a:extLst>
              <a:ext uri="{96DAC541-7B7A-43D3-8B79-37D633B846F1}">
                <asvg:svgBlip xmlns:asvg="http://schemas.microsoft.com/office/drawing/2016/SVG/main" r:embed="R3d23fdb1c99a420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257425" y="494347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7CCABF9-6D9E-4779-8DA4-899B52FC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857750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D6D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DD6D0"/>
                </a:solidFill>
                <a:latin typeface="Aptos"/>
                <a:ea typeface="Aptos"/>
                <a:cs typeface="Aptos"/>
              </a:rPr>
              <a:t>Safety-first delivery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44206D8-7D37-4757-B0E5-D372324B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334000"/>
            <a:ext cx="3009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No secrets in package, guarded cloud mutation, protected public demo access.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E939B09-B1DE-4FE4-A19D-2E2BED47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00600"/>
            <a:ext cx="34290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FC067FB-185C-4AB6-AB1D-5DE8D940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43450"/>
            <a:ext cx="34290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DA9D4DC-045F-4B3A-84D4-148161B0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86300"/>
            <a:ext cx="34290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1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22541D9-F3CC-4174-A21F-D776656C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9149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FBA388B-DB14-4A04-B98D-CE653043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577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8"/>
          </a:solidFill>
          <a:ln xmlns:a="http://schemas.openxmlformats.org/drawingml/2006/main" w="11430">
            <a:solidFill>
              <a:srgbClr val="84D65A"/>
            </a:solidFill>
            <a:prstDash val="solid"/>
          </a:ln>
        </p:spPr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8616df0c784a6b">
            <a:extLst>
              <a:ext uri="{96DAC541-7B7A-43D3-8B79-37D633B846F1}">
                <asvg:svgBlip xmlns:asvg="http://schemas.microsoft.com/office/drawing/2016/SVG/main" r:embed="Ree96222a825a4a1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48425" y="494347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22A3C35-679F-4D10-A15B-AABCACDB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857750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4D65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4D65A"/>
                </a:solidFill>
                <a:latin typeface="Aptos"/>
                <a:ea typeface="Aptos"/>
                <a:cs typeface="Aptos"/>
              </a:rPr>
              <a:t>Future-ready foundation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EDA9DA1-201A-46D9-AA1F-3C0F2D1F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334000"/>
            <a:ext cx="3009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AI Agents can sit above the implemented telemetry and analytics layer.</a:t>
            </a:r>
          </a:p>
        </p:txBody>
      </p:sp>
    </p:spTree>
    <p:extLst>
      <p:ext uri="{BB962C8B-B14F-4D97-AF65-F5344CB8AC3E}">
        <p14:creationId xmlns:p14="http://schemas.microsoft.com/office/powerpoint/2010/main" val="23099984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9A5310-CA18-446D-B109-173699C4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3B60D3-898E-4491-A12B-3820BE90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0"/>
            <a:ext cx="276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334548-A0A3-46EA-BEF6-9D0D4A1E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-381000"/>
            <a:ext cx="95250" cy="781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6BD912-9F29-474F-A09C-970B97F0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535093-CA6A-4DFB-8B5C-90A1559B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4C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AB4C5"/>
                </a:solidFill>
                <a:latin typeface="Aptos"/>
                <a:ea typeface="Aptos"/>
                <a:cs typeface="Aptos"/>
              </a:rPr>
              <a:t>MSDS 432 Group 4 | Smart City Zero-Disk IoT Infrastructure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9B5B95-C168-4E94-8B46-7D3C129F0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AB4C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AB4C5"/>
                </a:solidFill>
                <a:latin typeface="Aptos"/>
                <a:ea typeface="Aptos"/>
                <a:cs typeface="Aptos"/>
              </a:rPr>
              <a:t>03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3E4B67-B8AF-4DC5-B535-BC4EF9D7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F12F00-0096-4CA4-80F8-B337AC88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D6D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DD6D0"/>
                </a:solidFill>
                <a:latin typeface="Aptos"/>
                <a:ea typeface="Aptos"/>
                <a:cs typeface="Aptos"/>
              </a:rPr>
              <a:t>PHASE 2 TO PHASE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722ED2-7C1B-43F3-99BF-6AD19BCF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9525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design blueprint became a runnable, observable implementation.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96BF19-A5F5-4AF8-BE7F-95EFFC80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57EF6A-C5CB-4B5B-893D-1B1B81E8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FDB15F-AFD7-4F47-AC6B-BFD6F1B5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A821B1-7F7C-4EFF-8B4E-381E653E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CDF4AD-CC50-4F36-BEBC-83DB9EED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C94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C948"/>
                </a:solidFill>
                <a:latin typeface="Aptos"/>
                <a:ea typeface="Aptos"/>
                <a:cs typeface="Aptos"/>
              </a:rPr>
              <a:t>Blueprint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35143A-EA7B-4EC6-A537-40826335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Phase 2 design report and architecture diagram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15798E-CC53-4448-9CA8-642ACB7D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77190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CC074B-0C7C-4D16-8682-07D6B4D3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95700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0CE0E8-39CD-45B6-BC70-44BED9B1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1242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AD21D9-F5C5-4887-B6C3-78EC0146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6705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D5169C-E63D-4FCF-ADCB-988CDEA4E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C97C74-56CD-41F4-8A63-FEDCD5ED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766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D6D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DD6D0"/>
                </a:solidFill>
                <a:latin typeface="Aptos"/>
                <a:ea typeface="Aptos"/>
                <a:cs typeface="Aptos"/>
              </a:rPr>
              <a:t>Local Proof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B61225-096F-4876-B709-4A1B605F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338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Compose, simulator, live pollers, TimescaleDB, Grafana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2E7C9D-8314-47E4-917B-CB5C298D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77190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BE7845-3238-4515-9889-C31051B5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695700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EDF05B-E5E9-4E6F-8377-7B562163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242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54E75C-297C-472B-B5C5-3FFA81C3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6705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6E44E9-173F-4F7E-B2CF-AEF21578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D30395-7423-4F7E-8C74-38758104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766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4D65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84D65A"/>
                </a:solidFill>
                <a:latin typeface="Aptos"/>
                <a:ea typeface="Aptos"/>
                <a:cs typeface="Aptos"/>
              </a:rPr>
              <a:t>Cloud Proof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4D7DEF-98EF-42ED-8438-3BE72872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338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GCP core resources, Pub/Sub, GCS, BigQuery, GKE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DFBAF9-661C-4851-95CE-DE084DE8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7190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D6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3233EC-2F3B-4BA9-B569-9382BBD3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695700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D6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9A2AD6-B6C8-4409-A14D-AD006E13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242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0107A7-8ACE-4BAD-88C3-82ED4A68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6705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6CE6A2-9059-4391-95A5-4F3448BB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6F8DCD-6218-441F-A641-A39CD889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766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9737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97373"/>
                </a:solidFill>
                <a:latin typeface="Aptos"/>
                <a:ea typeface="Aptos"/>
                <a:cs typeface="Aptos"/>
              </a:rPr>
              <a:t>Final Proof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F9A68F-B5F5-4A2B-B5D3-1C284432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338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Streamlit, dashboard, deck, runbooks, package checks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3044D0-1F15-4F8B-9C60-BF6D9C8D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3875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Phase 3 should not repeat Phase 2. It should show implementation depth, reviewer evidence, and operational maturity.</a:t>
            </a:r>
          </a:p>
        </p:txBody>
      </p:sp>
    </p:spTree>
    <p:extLst>
      <p:ext uri="{BB962C8B-B14F-4D97-AF65-F5344CB8AC3E}">
        <p14:creationId xmlns:p14="http://schemas.microsoft.com/office/powerpoint/2010/main" val="100745136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156B3F-A60D-421E-8BED-C7C8952F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D2ABC5-FAFB-4A8D-BC99-3C017B42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0"/>
            <a:ext cx="276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03BB49-1593-4192-9360-A471B234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-381000"/>
            <a:ext cx="95250" cy="781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813C81-AE67-410B-AFC0-9464291B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05CC4D-BB1D-4457-9B61-122223D5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4C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AB4C5"/>
                </a:solidFill>
                <a:latin typeface="Aptos"/>
                <a:ea typeface="Aptos"/>
                <a:cs typeface="Aptos"/>
              </a:rPr>
              <a:t>MSDS 432 Group 4 | Smart City Zero-Disk IoT Infrastructure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2A422E-84BB-45A1-8C87-43DB071F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AB4C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AB4C5"/>
                </a:solidFill>
                <a:latin typeface="Aptos"/>
                <a:ea typeface="Aptos"/>
                <a:cs typeface="Aptos"/>
              </a:rPr>
              <a:t>04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1CC931-126A-42A0-ADC2-16575D81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66EFA9-1F4D-47B0-B746-14E4009C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D6D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DD6D0"/>
                </a:solidFill>
                <a:latin typeface="Aptos"/>
                <a:ea typeface="Aptos"/>
                <a:cs typeface="Aptos"/>
              </a:rPr>
              <a:t>PLATFORM ARCHITECTURE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AAC4AD-397F-4070-8F63-1091A2F3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9525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system separates ingestion, storage, operations, and reporting concerns.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BA6BC4-B0F6-4EDD-8E50-1EC99EA1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4C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AB4C5"/>
                </a:solidFill>
                <a:latin typeface="Aptos"/>
                <a:ea typeface="Aptos"/>
                <a:cs typeface="Aptos"/>
              </a:rPr>
              <a:t>This keeps the demo understandable while preserving real backend/data-engineering depth.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0CD4AA-7AB8-446A-BD5B-E9DC17DE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619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A4993D-7D4A-49D0-A9F0-5961B24ED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71800"/>
            <a:ext cx="1619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A5E94D-03CD-4CEC-BA07-5C0BA370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1619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2D70D8-2A5A-4494-83DC-07B1FBDE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D6D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DD6D0"/>
                </a:solidFill>
                <a:latin typeface="Aptos"/>
                <a:ea typeface="Aptos"/>
                <a:cs typeface="Aptos"/>
              </a:rPr>
              <a:t>Smart-city sources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775759-CF09-4DB7-936A-A4A3F981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12954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OpenAQ</a:t>
            </a:r>
          </a:p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Open-Meteo</a:t>
            </a:r>
          </a:p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Divvy GBFS</a:t>
            </a:r>
          </a:p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USGS</a:t>
            </a:r>
          </a:p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Simulator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B99A55-919E-49A2-B7C6-11206674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79095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459B69-4838-4DC1-B302-D005ABF2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714750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8927C8-B4D8-4740-9314-EA6411AC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28950"/>
            <a:ext cx="1619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9FF272-EE40-41E6-9917-46F2D7DA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971800"/>
            <a:ext cx="1619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2B6CF4-3233-4AD9-9F13-E979713F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914650"/>
            <a:ext cx="1619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9AE828-BDB0-485B-A5F7-41561D46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18135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4D65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84D65A"/>
                </a:solidFill>
                <a:latin typeface="Aptos"/>
                <a:ea typeface="Aptos"/>
                <a:cs typeface="Aptos"/>
              </a:rPr>
              <a:t>Ingestion services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F7A8F4-E1E7-498C-B1DF-41FE3177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638550"/>
            <a:ext cx="12954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Go adapters</a:t>
            </a:r>
          </a:p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normalizers</a:t>
            </a:r>
          </a:p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validators</a:t>
            </a:r>
          </a:p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queue sink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6C38F7-4739-4F6C-A62A-F908E82A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9095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D6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ABA8E9-66FD-4A8A-8370-96830A4D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14750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D6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91FA89-35DE-4F7E-B401-C304D837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28950"/>
            <a:ext cx="1619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30C6F2-D609-46C3-B29F-53F0767A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971800"/>
            <a:ext cx="1619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816FC2-2A2C-4035-B1BF-E40C36A9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14650"/>
            <a:ext cx="1619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63C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F6A977-2020-4A3A-844F-D9BA7938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18135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C9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C948"/>
                </a:solidFill>
                <a:latin typeface="Aptos"/>
                <a:ea typeface="Aptos"/>
                <a:cs typeface="Aptos"/>
              </a:rPr>
              <a:t>Hot + cold storage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DB5DF7-F7BF-4AC2-8F03-9228DAB4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38550"/>
            <a:ext cx="12954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TimescaleDB</a:t>
            </a:r>
          </a:p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Parquet</a:t>
            </a:r>
          </a:p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GCS</a:t>
            </a:r>
          </a:p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BigQuery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D2ACB1-C2E0-4C7A-ABDF-FF6E8EC4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9095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A68D14-1CC9-486C-8F84-B1AA3B90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14750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13FB84-D3A9-4873-84A3-367AFAE2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28950"/>
            <a:ext cx="1619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8034AF-6FB0-4F02-B058-05EA3C0B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71800"/>
            <a:ext cx="1619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E99A54-7A33-4F83-BC23-EA03266D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14650"/>
            <a:ext cx="1619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DF5851-CF1E-42A1-B064-7F483EE2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8135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9737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97373"/>
                </a:solidFill>
                <a:latin typeface="Aptos"/>
                <a:ea typeface="Aptos"/>
                <a:cs typeface="Aptos"/>
              </a:rPr>
              <a:t>Runtime operations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1D0B19-7FBA-4370-91F4-9180C471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12954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GKE</a:t>
            </a:r>
          </a:p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CI/CD</a:t>
            </a:r>
          </a:p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backups</a:t>
            </a:r>
          </a:p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cost modes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7B7F74F-0F7E-4959-9A3F-675F90E6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9095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B25A6D-B4D9-4687-BD6B-45DF31F6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0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E6D3C54-C0ED-4327-A2BE-4098E793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28950"/>
            <a:ext cx="1619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ED99BBB-FC53-4B1A-8FD9-6EDF272B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71800"/>
            <a:ext cx="1619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8A7FEE6-A269-4590-8F74-6CC9B054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14650"/>
            <a:ext cx="1619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D84AA35-3D6E-4E86-AE1F-95A9D198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8135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D6D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DD6D0"/>
                </a:solidFill>
                <a:latin typeface="Aptos"/>
                <a:ea typeface="Aptos"/>
                <a:cs typeface="Aptos"/>
              </a:rPr>
              <a:t>Reports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ED617DE-C162-4FC6-AC0B-C94271DC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638550"/>
            <a:ext cx="12954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Streamlit</a:t>
            </a:r>
          </a:p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Grafana</a:t>
            </a:r>
          </a:p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runbooks</a:t>
            </a:r>
          </a:p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final deck</a:t>
            </a:r>
          </a:p>
        </p:txBody>
      </p:sp>
    </p:spTree>
    <p:extLst>
      <p:ext uri="{BB962C8B-B14F-4D97-AF65-F5344CB8AC3E}">
        <p14:creationId xmlns:p14="http://schemas.microsoft.com/office/powerpoint/2010/main" val="138996832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112BE0-1744-4D6B-998C-4A8BA3BE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1C70F9-4E77-4AD7-AACF-BD4BBF91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0"/>
            <a:ext cx="276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793F91-14FC-4EE6-9A82-1058BA27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-381000"/>
            <a:ext cx="95250" cy="781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0F91D2-84ED-40C7-9B8C-A34AAB10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A7E972-497C-4095-979E-7A9C96E3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4C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AB4C5"/>
                </a:solidFill>
                <a:latin typeface="Aptos"/>
                <a:ea typeface="Aptos"/>
                <a:cs typeface="Aptos"/>
              </a:rPr>
              <a:t>MSDS 432 Group 4 | Smart City Zero-Disk IoT Infrastructure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D8FC66-11AD-41BA-A620-FCF68AA0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AB4C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AB4C5"/>
                </a:solidFill>
                <a:latin typeface="Aptos"/>
                <a:ea typeface="Aptos"/>
                <a:cs typeface="Aptos"/>
              </a:rPr>
              <a:t>05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D8BEC6-9C32-4C7D-A159-2462868E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EB17C5-93CC-4863-802C-294320DD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D6D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DD6D0"/>
                </a:solidFill>
                <a:latin typeface="Aptos"/>
                <a:ea typeface="Aptos"/>
                <a:cs typeface="Aptos"/>
              </a:rPr>
              <a:t>LIVE DATA INGESTION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634D44-56F4-4C4E-BCC0-8BAC1B80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9334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Multiple real city domains feed one normalized reading model.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C06833-AD23-41E0-B462-CC7F5C3E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4C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AB4C5"/>
                </a:solidFill>
                <a:latin typeface="Aptos"/>
                <a:ea typeface="Aptos"/>
                <a:cs typeface="Aptos"/>
              </a:rPr>
              <a:t>The platform supports deterministic local review and live-source proof when network/API access is available.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F08E88-9A0D-4D13-B238-86FF6FB5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6667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02C70E-791F-443C-A652-6216387F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38450"/>
            <a:ext cx="6667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9C06E8-0D96-46E9-9D95-6C3BCC7D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6667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57131-AC76-42E0-8FB9-856A549B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Air quality - OpenAQ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C78D8A-7793-46E3-921B-494FC877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28975"/>
            <a:ext cx="2857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D049C4-3E77-4BDD-964B-9E53327A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28975"/>
            <a:ext cx="23431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D6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C39D84-3E3C-4797-BC28-E97207E2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813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4C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4C5"/>
                </a:solidFill>
                <a:latin typeface="Aptos"/>
                <a:ea typeface="Aptos"/>
                <a:cs typeface="Aptos"/>
              </a:rPr>
              <a:t>API-key gated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8A1519-3ABB-4838-9AEB-C1FF610D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766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Weather - Open-Meteo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5A26DB-7D0C-41EB-A4B0-6C55432C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24275"/>
            <a:ext cx="2857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183706-9E05-4210-AC25-A56238E0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24275"/>
            <a:ext cx="21431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C16235-1DE3-4A8E-8FDE-1DF5B1D1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766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4C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4C5"/>
                </a:solidFill>
                <a:latin typeface="Aptos"/>
                <a:ea typeface="Aptos"/>
                <a:cs typeface="Aptos"/>
              </a:rPr>
              <a:t>network live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9DE633-8EB0-4434-A254-EFE6E108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719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Mobility - Divvy GBFS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A7BFD3-4F60-4200-8BAA-3A9A0F42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219575"/>
            <a:ext cx="2857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2B50BD-9970-4F7C-B21A-852D998E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219575"/>
            <a:ext cx="2571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E2BF19-DB09-49FD-B385-0471A6EF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719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4C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4C5"/>
                </a:solidFill>
                <a:latin typeface="Aptos"/>
                <a:ea typeface="Aptos"/>
                <a:cs typeface="Aptos"/>
              </a:rPr>
              <a:t>station live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907F2C-413B-46F9-B87B-D5E93B01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Water - USGS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F7BB9B-061F-4274-A124-D5564ED1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714875"/>
            <a:ext cx="2857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7D5551-6D96-496F-8445-644CE108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714875"/>
            <a:ext cx="1828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5F1752-D35A-4A36-92AF-E9FD2BB6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672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4C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4C5"/>
                </a:solidFill>
                <a:latin typeface="Aptos"/>
                <a:ea typeface="Aptos"/>
                <a:cs typeface="Aptos"/>
              </a:rPr>
              <a:t>river gage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F8C151-2DE9-4592-AD69-B03164DE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625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Simulator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1FAF31-9755-4149-8BF7-8E879A0A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210175"/>
            <a:ext cx="2857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C18C38-D42C-4C58-AAAC-C640F78B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210175"/>
            <a:ext cx="2857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6FC1DB-9FD6-4367-898E-A81888DF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1625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4C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4C5"/>
                </a:solidFill>
                <a:latin typeface="Aptos"/>
                <a:ea typeface="Aptos"/>
                <a:cs typeface="Aptos"/>
              </a:rPr>
              <a:t>deterministic local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1BEF44-2789-4A86-AD14-34325C1D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81350"/>
            <a:ext cx="2667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CD5F43-5985-413F-978B-82981D89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24200"/>
            <a:ext cx="2667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E1FFED-98C4-4EA8-849B-76E5CB39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67050"/>
            <a:ext cx="2667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627E949-853C-4009-BB39-2AE27F5C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90900"/>
            <a:ext cx="2095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Reviewer promise: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No fake Grafana rows.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No synthetic cloud metrics.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Live sources degrade gracefully.</a:t>
            </a:r>
          </a:p>
        </p:txBody>
      </p:sp>
    </p:spTree>
    <p:extLst>
      <p:ext uri="{BB962C8B-B14F-4D97-AF65-F5344CB8AC3E}">
        <p14:creationId xmlns:p14="http://schemas.microsoft.com/office/powerpoint/2010/main" val="43660925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2495CB-E714-43DD-AF17-214298B6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18E526-5912-4214-BF32-15143082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0"/>
            <a:ext cx="276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F6A78-912C-4FBC-A968-6BD1B739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-381000"/>
            <a:ext cx="95250" cy="781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A177F3-784A-4FE3-8D0F-D4B32462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50EBCD-A9DE-4827-8C31-CDFB9C05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4C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AB4C5"/>
                </a:solidFill>
                <a:latin typeface="Aptos"/>
                <a:ea typeface="Aptos"/>
                <a:cs typeface="Aptos"/>
              </a:rPr>
              <a:t>MSDS 432 Group 4 | Smart City Zero-Disk IoT Infrastructure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622624-6ECB-4E38-972C-34DE0805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AB4C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AB4C5"/>
                </a:solidFill>
                <a:latin typeface="Aptos"/>
                <a:ea typeface="Aptos"/>
                <a:cs typeface="Aptos"/>
              </a:rPr>
              <a:t>06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F194F9-DCFB-4DE5-901A-7DA529A3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C14F14-7B28-4D02-A461-1D4A9D47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D6D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DD6D0"/>
                </a:solidFill>
                <a:latin typeface="Aptos"/>
                <a:ea typeface="Aptos"/>
                <a:cs typeface="Aptos"/>
              </a:rPr>
              <a:t>DATA QUALITY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DA2FFE-DA8D-450F-B011-A84BA262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9334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Validation and quality flags make the city telemetry reviewable.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CCC9AB-8015-4146-94D2-356F31D0C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4C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AB4C5"/>
                </a:solidFill>
                <a:latin typeface="Aptos"/>
                <a:ea typeface="Aptos"/>
                <a:cs typeface="Aptos"/>
              </a:rPr>
              <a:t>Phase 3 evidence is stronger because the platform does not treat every incoming payload as trustworthy by default.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8B9D9A-7140-4CFE-BC2F-53DC750A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6F2FA0-E466-4FE1-B0F7-83EF1F7E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18F1B0-27BA-4FFE-B659-7DAC6835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1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5FC2DF-E0FE-4D68-AD43-65957FE4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242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6CCCD1-AFAC-4838-98C6-715E6BF8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67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8"/>
          </a:solidFill>
          <a:ln xmlns:a="http://schemas.openxmlformats.org/drawingml/2006/main" w="11430">
            <a:solidFill>
              <a:srgbClr val="3DD6D0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9766b08bf7459c">
            <a:extLst>
              <a:ext uri="{96DAC541-7B7A-43D3-8B79-37D633B846F1}">
                <asvg:svgBlip xmlns:asvg="http://schemas.microsoft.com/office/drawing/2016/SVG/main" r:embed="R10a6a7f07c5845c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38225" y="315277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12D661-94C8-4E62-9A6D-D5969148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67050"/>
            <a:ext cx="1981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D6D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DD6D0"/>
                </a:solidFill>
                <a:latin typeface="Aptos"/>
                <a:ea typeface="Aptos"/>
                <a:cs typeface="Aptos"/>
              </a:rPr>
              <a:t>Normalization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3617AC-7426-4D3C-AE9F-80B06F8B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4330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Source-specific payloads become a common reading shape with metric, value, timestamp, and location.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5143B1-37DE-45EB-841C-72D61894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099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56A735-C42D-42C9-8A41-4DA58802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95275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D30C51-309A-47BC-9943-508F062C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956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1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187067-63C8-47BD-9CEC-FB1DBCFF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1242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52E88F-7CEE-4C10-BCD4-A41A4239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67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8"/>
          </a:solidFill>
          <a:ln xmlns:a="http://schemas.openxmlformats.org/drawingml/2006/main" w="11430">
            <a:solidFill>
              <a:srgbClr val="84D65A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3aa287fee644f7">
            <a:extLst>
              <a:ext uri="{96DAC541-7B7A-43D3-8B79-37D633B846F1}">
                <asvg:svgBlip xmlns:asvg="http://schemas.microsoft.com/office/drawing/2016/SVG/main" r:embed="R49f368e550a74b3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352925" y="315277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A1ADA2-19F4-4CD2-AB36-51F95E91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67050"/>
            <a:ext cx="1981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4D65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4D65A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275D72-0403-451E-845E-50E7655D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54330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Invalid, suspect, and valid quality flags protect analytics and dashboard interpretation.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0713D6-14A1-4EDB-8AFA-F6E8441B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099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4F0B01-6C08-4F40-A5EA-45BD31A4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5275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2AC6CB-37B5-4825-A69C-69893E84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956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1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EE7E3F-1FCB-4C3B-AC37-099C8C04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1242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5C2975-68F4-4979-8BC6-35CD8E1D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067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8"/>
          </a:solidFill>
          <a:ln xmlns:a="http://schemas.openxmlformats.org/drawingml/2006/main" w="11430">
            <a:solidFill>
              <a:srgbClr val="F7C948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412840711b406d">
            <a:extLst>
              <a:ext uri="{96DAC541-7B7A-43D3-8B79-37D633B846F1}">
                <asvg:svgBlip xmlns:asvg="http://schemas.microsoft.com/office/drawing/2016/SVG/main" r:embed="R190b4dc3eced4b6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67625" y="315277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A322BF-83F6-4BC1-9D86-7FF1E463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67050"/>
            <a:ext cx="1981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C94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C948"/>
                </a:solidFill>
                <a:latin typeface="Aptos"/>
                <a:ea typeface="Aptos"/>
                <a:cs typeface="Aptos"/>
              </a:rPr>
              <a:t>Observability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12E692-E693-4EC9-B7B3-92F9FD4D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4330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Ingestion metrics surface throughput, freshness, channel fill, and dropped readings.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AAF044-CD9E-413E-9DD7-EE2CB9D8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9149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446A0D-7985-42D7-ACD9-78234387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5775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3AC069C-9C14-496E-B3A3-DAA77E99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8006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1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1C918A3-DDE1-48AC-A800-D5AF9EFB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0292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0C8B61-44D0-4E9C-9D92-E8676965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72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8"/>
          </a:solidFill>
          <a:ln xmlns:a="http://schemas.openxmlformats.org/drawingml/2006/main" w="11430">
            <a:solidFill>
              <a:srgbClr val="F97373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949f953a6f41be">
            <a:extLst>
              <a:ext uri="{96DAC541-7B7A-43D3-8B79-37D633B846F1}">
                <asvg:svgBlip xmlns:asvg="http://schemas.microsoft.com/office/drawing/2016/SVG/main" r:embed="Rf076bfa7db3c4c0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619375" y="505777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797BA8A-F8B4-4571-A3C0-A31243DF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972050"/>
            <a:ext cx="1981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9737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97373"/>
                </a:solidFill>
                <a:latin typeface="Aptos"/>
                <a:ea typeface="Aptos"/>
                <a:cs typeface="Aptos"/>
              </a:rPr>
              <a:t>Coverage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A8BFC44-9A2F-4A01-88DB-BC3C90FE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44830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Source and metric coverage tables show what data is actually present.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E4703A7-1729-4FF6-8506-A167D20E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9149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0D421F1-46C6-460E-AB6F-C6C108F0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5775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61AFAA2-4187-4370-A832-BADB1E76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8006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1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C155456-9728-4FDF-BC89-23C756FA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50292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23BA761-C1C2-45FB-A07D-E13B2252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972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8"/>
          </a:solidFill>
          <a:ln xmlns:a="http://schemas.openxmlformats.org/drawingml/2006/main" w="11430">
            <a:solidFill>
              <a:srgbClr val="3DD6D0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3e3e47734d4016">
            <a:extLst>
              <a:ext uri="{96DAC541-7B7A-43D3-8B79-37D633B846F1}">
                <asvg:svgBlip xmlns:asvg="http://schemas.microsoft.com/office/drawing/2016/SVG/main" r:embed="Rb8bf411a905145b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34075" y="505777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12C004E-E2A5-4D1F-8F0E-BFD7A6D2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72050"/>
            <a:ext cx="1981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D6D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DD6D0"/>
                </a:solidFill>
                <a:latin typeface="Aptos"/>
                <a:ea typeface="Aptos"/>
                <a:cs typeface="Aptos"/>
              </a:rPr>
              <a:t>Traceability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BFA0E45-0F9C-466B-ADBF-77EC5102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44830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Tables retain sensor IDs, sources, metric names, and reading freshness.</a:t>
            </a:r>
          </a:p>
        </p:txBody>
      </p:sp>
    </p:spTree>
    <p:extLst>
      <p:ext uri="{BB962C8B-B14F-4D97-AF65-F5344CB8AC3E}">
        <p14:creationId xmlns:p14="http://schemas.microsoft.com/office/powerpoint/2010/main" val="42187229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7AE0F6-DF5B-4822-946C-888C0AD4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4810EC-4E5A-4DF5-A992-CB79FDC5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0"/>
            <a:ext cx="276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AB37AE-1678-4723-B46C-C3D6575E0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-381000"/>
            <a:ext cx="95250" cy="781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6D52D6-1302-410C-A2A7-C6D35277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4B6427-BF01-4D78-9AC9-6300A834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4C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AB4C5"/>
                </a:solidFill>
                <a:latin typeface="Aptos"/>
                <a:ea typeface="Aptos"/>
                <a:cs typeface="Aptos"/>
              </a:rPr>
              <a:t>MSDS 432 Group 4 | Smart City Zero-Disk IoT Infrastructure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D2B779-A1A0-4211-B4BE-8A70BB54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AB4C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AB4C5"/>
                </a:solidFill>
                <a:latin typeface="Aptos"/>
                <a:ea typeface="Aptos"/>
                <a:cs typeface="Aptos"/>
              </a:rPr>
              <a:t>07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EF8B1F-0B86-445D-B793-B3F203C7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4EA844-B282-4D61-BF63-194A77A1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D6D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DD6D0"/>
                </a:solidFill>
                <a:latin typeface="Aptos"/>
                <a:ea typeface="Aptos"/>
                <a:cs typeface="Aptos"/>
              </a:rPr>
              <a:t>HOT STORE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CC789D-DFA6-4BBC-BC30-4DC8BB6A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9144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TimescaleDB is the operational store for current city state.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3FA386-D61C-4158-B2EA-9A52B16D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4C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AB4C5"/>
                </a:solidFill>
                <a:latin typeface="Aptos"/>
                <a:ea typeface="Aptos"/>
                <a:cs typeface="Aptos"/>
              </a:rPr>
              <a:t>It holds readings and ingestion metrics that power both local dashboards and runtime validation.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A23E42-747A-4FCF-BEAA-1D8017C3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33700"/>
            <a:ext cx="4381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E78036-F806-4FF1-BBA7-DF06AFE7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4381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ED0C39-58BD-43FE-A4C9-8DEB7215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4381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46A2AD-DC17-4A2F-AC30-8E4531C7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623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D6D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DD6D0"/>
                </a:solidFill>
                <a:latin typeface="Aptos"/>
                <a:ea typeface="Aptos"/>
                <a:cs typeface="Aptos"/>
              </a:rPr>
              <a:t>Hot data responsibilities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97FF35-1E51-4F83-93DB-BA9C7E21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14750"/>
            <a:ext cx="3429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- sensor_readings for city telemetry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- ingestion_metrics for platform operations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- row checks for source coverage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- tables powering Streamlit and Grafana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ED0558-2EB7-4BB4-8B76-CC8CC426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33700"/>
            <a:ext cx="3429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69DC8C-010D-4B18-BC58-8F8A6FA9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76550"/>
            <a:ext cx="3429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A5CFDE-BA47-47FC-9A76-C95CC959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19400"/>
            <a:ext cx="3429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63C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3DDB2F-9810-4AED-BF7E-146B03D0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623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4D65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84D65A"/>
                </a:solidFill>
                <a:latin typeface="Aptos"/>
                <a:ea typeface="Aptos"/>
                <a:cs typeface="Aptos"/>
              </a:rPr>
              <a:t>Reviewer commands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0A72D5-79AC-4C1F-9118-85B7336B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14750"/>
            <a:ext cx="2571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make run-local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make seed-simulator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make poll-multisource-once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make grafana-demo-ready</a:t>
            </a:r>
          </a:p>
        </p:txBody>
      </p:sp>
    </p:spTree>
    <p:extLst>
      <p:ext uri="{BB962C8B-B14F-4D97-AF65-F5344CB8AC3E}">
        <p14:creationId xmlns:p14="http://schemas.microsoft.com/office/powerpoint/2010/main" val="153490680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B74575-658B-4F39-BBD9-265F372C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529785-2B5D-417E-9040-2A315508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0"/>
            <a:ext cx="276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43D067-C5B0-4243-911D-872625A4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-381000"/>
            <a:ext cx="95250" cy="781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DFACA9-B830-405B-8B86-0BCC22A0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F9D81B-4219-46DD-AF79-9CD04945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4C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AB4C5"/>
                </a:solidFill>
                <a:latin typeface="Aptos"/>
                <a:ea typeface="Aptos"/>
                <a:cs typeface="Aptos"/>
              </a:rPr>
              <a:t>MSDS 432 Group 4 | Smart City Zero-Disk IoT Infrastructure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7BBD61-72A9-4C89-B73D-51B684E3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AB4C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AB4C5"/>
                </a:solidFill>
                <a:latin typeface="Aptos"/>
                <a:ea typeface="Aptos"/>
                <a:cs typeface="Aptos"/>
              </a:rPr>
              <a:t>08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B8EAEB-4FDD-4E9A-8A3E-43687B17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D7A05C-2A5D-4BFA-A5EB-A8F472B3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D6D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DD6D0"/>
                </a:solidFill>
                <a:latin typeface="Aptos"/>
                <a:ea typeface="Aptos"/>
                <a:cs typeface="Aptos"/>
              </a:rPr>
              <a:t>COLD PATH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3F9D52-7BE7-4568-BB63-C653919D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9334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Parquet, GCS, and BigQuery turn hot readings into historical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238B4F-3440-43C7-B470-0E3C699B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866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4C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AB4C5"/>
                </a:solidFill>
                <a:latin typeface="Aptos"/>
                <a:ea typeface="Aptos"/>
                <a:cs typeface="Aptos"/>
              </a:rPr>
              <a:t>The cold path supports longer-term reporting while keeping the live dashboard focused on current operations.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9BE23E-8274-4800-AC22-9740A295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2762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6A69A5-785E-47C2-988E-EAF4E4F3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2762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B0A14A-E08F-43B9-B9B5-03790FF5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2762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1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BCE9DE-E56B-461A-9DB5-AB594807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2194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1C43BF-E1EB-4B6E-A968-D5DB93A5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623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8"/>
          </a:solidFill>
          <a:ln xmlns:a="http://schemas.openxmlformats.org/drawingml/2006/main" w="11430">
            <a:solidFill>
              <a:srgbClr val="3DD6D0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76083c8e664dc5">
            <a:extLst>
              <a:ext uri="{96DAC541-7B7A-43D3-8B79-37D633B846F1}">
                <asvg:svgBlip xmlns:asvg="http://schemas.microsoft.com/office/drawing/2016/SVG/main" r:embed="R4365c6a0cddc4e0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14425" y="324802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E56BE7-AF76-444A-BFC2-63FEB42E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62300"/>
            <a:ext cx="1885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D6D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DD6D0"/>
                </a:solidFill>
                <a:latin typeface="Aptos"/>
                <a:ea typeface="Aptos"/>
                <a:cs typeface="Aptos"/>
              </a:rPr>
              <a:t>Local Parquet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4B6B56-CFBF-4B3C-A480-3AD9B711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2343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make export-cold-demo writes partitioned files from TimescaleDB rows.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B661C5-3771-43DD-A48B-3E616B3E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05150"/>
            <a:ext cx="2762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48C80D-CFBC-4FE2-9ECC-A42AA8BC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048000"/>
            <a:ext cx="2762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B1D13D-1F8E-44CC-9998-B4A1254B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90850"/>
            <a:ext cx="2762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1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A2F83A-BEAE-48B4-A979-5BF6B39B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2194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7485CD-41C8-4D9F-888E-95DE8145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623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8"/>
          </a:solidFill>
          <a:ln xmlns:a="http://schemas.openxmlformats.org/drawingml/2006/main" w="11430">
            <a:solidFill>
              <a:srgbClr val="84D65A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597a9b0ecf4beb">
            <a:extLst>
              <a:ext uri="{96DAC541-7B7A-43D3-8B79-37D633B846F1}">
                <asvg:svgBlip xmlns:asvg="http://schemas.microsoft.com/office/drawing/2016/SVG/main" r:embed="Rd012ee0ccae1411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352925" y="324802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0CF5E5-34C7-4742-B5F0-EF3D497B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62300"/>
            <a:ext cx="1885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4D65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4D65A"/>
                </a:solidFill>
                <a:latin typeface="Aptos"/>
                <a:ea typeface="Aptos"/>
                <a:cs typeface="Aptos"/>
              </a:rPr>
              <a:t>GCS upload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D8166E-812A-49C2-8A28-4E81D9BB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38550"/>
            <a:ext cx="2343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make export-cold-gcs promotes cold files into cloud object storage.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31D5AD-AF4B-409E-9D18-CE33A8BA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05150"/>
            <a:ext cx="2762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6B3391-9A0E-4B99-84AC-574E838D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48000"/>
            <a:ext cx="2762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1D9BFF-B634-412D-B20A-A4729D4E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90850"/>
            <a:ext cx="2762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1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23F1A5-6ADD-4C6F-8DED-701C58F0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2194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8CF6A7-4DE2-463E-A59D-AD255C09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1623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8"/>
          </a:solidFill>
          <a:ln xmlns:a="http://schemas.openxmlformats.org/drawingml/2006/main" w="11430">
            <a:solidFill>
              <a:srgbClr val="F7C948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d0e9d399b94eb3">
            <a:extLst>
              <a:ext uri="{96DAC541-7B7A-43D3-8B79-37D633B846F1}">
                <asvg:svgBlip xmlns:asvg="http://schemas.microsoft.com/office/drawing/2016/SVG/main" r:embed="R6dabdc0c635a448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591425" y="324802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819E09-C0E9-4DF7-8259-7FD5C81D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62300"/>
            <a:ext cx="1885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C94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C948"/>
                </a:solidFill>
                <a:latin typeface="Aptos"/>
                <a:ea typeface="Aptos"/>
                <a:cs typeface="Aptos"/>
              </a:rPr>
              <a:t>BigQuery view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A87303-0C8B-4C55-80C7-8431F461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38550"/>
            <a:ext cx="2343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make bigquery-cold-check validates external-table visibility.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E0AAC0-0C31-464B-9F57-F0F0B16C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10150"/>
            <a:ext cx="2762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03A05C-AC70-498D-9645-EDB35E1F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953000"/>
            <a:ext cx="2762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CA0945-B587-49F0-8A7E-6BA97A0A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95850"/>
            <a:ext cx="2762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1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94FAC92-8479-4A36-B145-DB2D4939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51244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DBB231C-5A36-489C-9A50-27442A4E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0673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8"/>
          </a:solidFill>
          <a:ln xmlns:a="http://schemas.openxmlformats.org/drawingml/2006/main" w="11430">
            <a:solidFill>
              <a:srgbClr val="F97373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92688ac1724d7c">
            <a:extLst>
              <a:ext uri="{96DAC541-7B7A-43D3-8B79-37D633B846F1}">
                <asvg:svgBlip xmlns:asvg="http://schemas.microsoft.com/office/drawing/2016/SVG/main" r:embed="R237634c6ff2c418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733675" y="515302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84DE58A-8BEF-4C3D-9C62-BD266DEA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067300"/>
            <a:ext cx="1885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9737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97373"/>
                </a:solidFill>
                <a:latin typeface="Aptos"/>
                <a:ea typeface="Aptos"/>
                <a:cs typeface="Aptos"/>
              </a:rPr>
              <a:t>Streamlit evidence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6FB200A-CA8F-427B-B3B8-C19EA56A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543550"/>
            <a:ext cx="2343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command center can show local/cloud cold-path proof.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6070296-0BC6-4415-9144-2E973DE6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010150"/>
            <a:ext cx="2762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98C9471-6D57-4F9B-B064-0115DB9B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953000"/>
            <a:ext cx="2762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117CDE9-F1EC-4CC5-AA44-3CF715E1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95850"/>
            <a:ext cx="2762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1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92439BC-73F8-4664-A39D-7FB91810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51244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013F426-887A-4E02-8700-CA756658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673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8"/>
          </a:solidFill>
          <a:ln xmlns:a="http://schemas.openxmlformats.org/drawingml/2006/main" w="11430">
            <a:solidFill>
              <a:srgbClr val="3DD6D0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576b4154e9422e">
            <a:extLst>
              <a:ext uri="{96DAC541-7B7A-43D3-8B79-37D633B846F1}">
                <asvg:svgBlip xmlns:asvg="http://schemas.microsoft.com/office/drawing/2016/SVG/main" r:embed="Rd808c1ffd665431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72175" y="515302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02FC0B5-AF17-4EC7-B529-7FF415E2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1885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D6D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DD6D0"/>
                </a:solidFill>
                <a:latin typeface="Aptos"/>
                <a:ea typeface="Aptos"/>
                <a:cs typeface="Aptos"/>
              </a:rPr>
              <a:t>Retention-safe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620BBA6-D6E1-4270-9B02-B14F65DA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543550"/>
            <a:ext cx="2343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Exports do not delete hot TimescaleDB rows during demo validation.</a:t>
            </a:r>
          </a:p>
        </p:txBody>
      </p:sp>
    </p:spTree>
    <p:extLst>
      <p:ext uri="{BB962C8B-B14F-4D97-AF65-F5344CB8AC3E}">
        <p14:creationId xmlns:p14="http://schemas.microsoft.com/office/powerpoint/2010/main" val="54513197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8F0202-43AD-4034-B957-775608D4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DCA328-716E-42C9-9243-F6DE34D0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0"/>
            <a:ext cx="276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64490D-B2D2-42A9-B052-A4FB8063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-381000"/>
            <a:ext cx="95250" cy="781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719A45-B5E2-4236-8203-81F0F91A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22E48F-447F-4471-A351-4321085F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4C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AB4C5"/>
                </a:solidFill>
                <a:latin typeface="Aptos"/>
                <a:ea typeface="Aptos"/>
                <a:cs typeface="Aptos"/>
              </a:rPr>
              <a:t>MSDS 432 Group 4 | Smart City Zero-Disk IoT Infrastructure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74A18-2A9D-4058-B6A6-5AA3F41A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AB4C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AB4C5"/>
                </a:solidFill>
                <a:latin typeface="Aptos"/>
                <a:ea typeface="Aptos"/>
                <a:cs typeface="Aptos"/>
              </a:rPr>
              <a:t>09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334EE9-0F92-4F8E-BB08-6B99C3B3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7359A0-ABA3-4532-9904-23BB16C2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D6D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DD6D0"/>
                </a:solidFill>
                <a:latin typeface="Aptos"/>
                <a:ea typeface="Aptos"/>
                <a:cs typeface="Aptos"/>
              </a:rPr>
              <a:t>CLOUD RUNTIME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67B054-8B11-4894-A461-451FA184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9334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runtime path proves the platform can operate beyond a laptop.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319E79-C4FA-4720-9936-05EB70AE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914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4C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AB4C5"/>
                </a:solidFill>
                <a:latin typeface="Aptos"/>
                <a:ea typeface="Aptos"/>
                <a:cs typeface="Aptos"/>
              </a:rPr>
              <a:t>GKE Autopilot, Workload Identity, internal TimescaleDB, CronJobs, and private backend services form the cloud operating model.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59379A-8E74-4B2E-8BF7-5D9E57B2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2000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CDF32C-45AA-48F6-93E9-6C6C26C6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2000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019BD1-430A-40EB-A74A-B613C669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2000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C1FE78-0B64-40F5-8331-6DD62F6F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33750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C94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C948"/>
                </a:solidFill>
                <a:latin typeface="Aptos"/>
                <a:ea typeface="Aptos"/>
                <a:cs typeface="Aptos"/>
              </a:rPr>
              <a:t>Terraform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284611-C856-46B4-8643-70F0F883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29050"/>
            <a:ext cx="1600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plan/apply gates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core + runtime resources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ED9A8F-E77A-42EE-8AD6-EDB29C80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8862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07E19A-EEEF-41E2-8FC5-58D16138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810000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B33F55-25A3-49F8-9C14-FF5F7426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162300"/>
            <a:ext cx="2000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A36C40-2F19-4180-BC1C-9445F741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05150"/>
            <a:ext cx="2000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E96C10-D4EE-4B0E-B0E8-21718CAB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48000"/>
            <a:ext cx="2000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C055C0-4233-4E2A-BE04-33F9F922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33750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4D65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84D65A"/>
                </a:solidFill>
                <a:latin typeface="Aptos"/>
                <a:ea typeface="Aptos"/>
                <a:cs typeface="Aptos"/>
              </a:rPr>
              <a:t>Artifact Registry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39D651-99D8-49BF-ACB7-FD8D6837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29050"/>
            <a:ext cx="1600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service images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CI-published tags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FDA516-4A23-4C6E-95B4-56907F85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8862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D6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BFFF86-2C28-4431-B39D-319FC042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10000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D6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40B3B3-EBFE-41FA-89FD-70B855BC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62300"/>
            <a:ext cx="2000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6890CF-125B-4E61-A995-3AA3EF6E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05150"/>
            <a:ext cx="2000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FB55A2-3874-48BA-8107-BADF90DE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48000"/>
            <a:ext cx="2000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0E5669-12AB-4985-B975-3243E520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33750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D6D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DD6D0"/>
                </a:solidFill>
                <a:latin typeface="Aptos"/>
                <a:ea typeface="Aptos"/>
                <a:cs typeface="Aptos"/>
              </a:rPr>
              <a:t>GKE Autopilot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DC1203-44CD-4D1E-8CD6-1C2FB39A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29050"/>
            <a:ext cx="1600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runtime workloads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internal database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6FDF32-5B45-4703-B3AF-57EBCA2E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862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E7DA8F-14DD-44F1-8E62-14B5F265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10000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606961-9D2F-48D6-930D-636532D4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62300"/>
            <a:ext cx="2000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0D5F46-9450-42A7-913D-CD73E4BF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05150"/>
            <a:ext cx="2000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E843AE-53D5-4295-A75D-8BF3EF7C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48000"/>
            <a:ext cx="2000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CBD93B-4BC6-425F-AC20-5852CD3E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33750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9737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97373"/>
                </a:solidFill>
                <a:latin typeface="Aptos"/>
                <a:ea typeface="Aptos"/>
                <a:cs typeface="Aptos"/>
              </a:rPr>
              <a:t>Public demo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262885-3F8E-449A-8AD0-4B01518D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29050"/>
            <a:ext cx="1600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Streamlit-only ingress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password gate</a:t>
            </a:r>
          </a:p>
        </p:txBody>
      </p:sp>
    </p:spTree>
    <p:extLst>
      <p:ext uri="{BB962C8B-B14F-4D97-AF65-F5344CB8AC3E}">
        <p14:creationId xmlns:p14="http://schemas.microsoft.com/office/powerpoint/2010/main" val="71190595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8A5DFB-C775-444D-A269-46B34415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960751-5D1E-46B4-AC77-C3D3CDC2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0"/>
            <a:ext cx="276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07B21-133C-4B99-B87A-39F605FA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-381000"/>
            <a:ext cx="95250" cy="781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65D740-CB4F-4FD4-9D4C-9BD0882B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4610D4-49E1-43A4-9E5A-104B2D98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4C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AB4C5"/>
                </a:solidFill>
                <a:latin typeface="Aptos"/>
                <a:ea typeface="Aptos"/>
                <a:cs typeface="Aptos"/>
              </a:rPr>
              <a:t>MSDS 432 Group 4 | Smart City Zero-Disk IoT Infrastructure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B70BD6-0B30-4D05-ACD0-A6D33AD0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AB4C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AB4C5"/>
                </a:solidFill>
                <a:latin typeface="Aptos"/>
                <a:ea typeface="Aptos"/>
                <a:cs typeface="Aptos"/>
              </a:rPr>
              <a:t>10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AC69FD-F43B-4B7F-931E-EDD2EA43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AA9E8F-2F60-410B-BCC7-7C08F24E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D6D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DD6D0"/>
                </a:solidFill>
                <a:latin typeface="Aptos"/>
                <a:ea typeface="Aptos"/>
                <a:cs typeface="Aptos"/>
              </a:rPr>
              <a:t>RELEASE ENGINEERING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89367B-321E-47F4-9250-0F84DBE5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9334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CI/CD and promotion checks create a controlled release story.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CF8BCF-BF51-477A-83CF-84BE0B19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885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4C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AB4C5"/>
                </a:solidFill>
                <a:latin typeface="Aptos"/>
                <a:ea typeface="Aptos"/>
                <a:cs typeface="Aptos"/>
              </a:rPr>
              <a:t>The implementation has local builds, cloud image publishing, and manual runtime promotion rather than ad hoc deployment.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5B14FC-9796-4976-8E63-DDF4DEA4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2952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31EE09-AC1B-4BA5-AD75-C3D37078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2952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497199-0A0E-4559-803C-B94FC494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33700"/>
            <a:ext cx="2952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1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3170B9-9DD7-480D-9916-2C8082EAF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1623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D6E890-65E9-486C-83E7-35853353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051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8"/>
          </a:solidFill>
          <a:ln xmlns:a="http://schemas.openxmlformats.org/drawingml/2006/main" w="11430">
            <a:solidFill>
              <a:srgbClr val="3DD6D0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ed6a9200c4452a">
            <a:extLst>
              <a:ext uri="{96DAC541-7B7A-43D3-8B79-37D633B846F1}">
                <asvg:svgBlip xmlns:asvg="http://schemas.microsoft.com/office/drawing/2016/SVG/main" r:embed="Re37b356c27db423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95375" y="319087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87D473-6293-43C7-A2C4-CD6D8F21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05150"/>
            <a:ext cx="207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D6D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DD6D0"/>
                </a:solidFill>
                <a:latin typeface="Aptos"/>
                <a:ea typeface="Aptos"/>
                <a:cs typeface="Aptos"/>
              </a:rPr>
              <a:t>Local image proof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C30DB2-E63E-48DE-8369-F50DAB88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81400"/>
            <a:ext cx="2533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make docker-build and make docker-smoke validate deployable service images.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E683DC-730B-4655-BEF0-29EE01E6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48000"/>
            <a:ext cx="2952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6A58C1-391E-4BBC-A9F2-E543A01B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90850"/>
            <a:ext cx="2952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1576FA-0672-4616-98C2-3F6CFB2A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33700"/>
            <a:ext cx="2952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1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911CF2-15C0-4ED5-B42A-5D76BBFC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1623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76961F-8A77-44EA-92AC-627B758C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051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8"/>
          </a:solidFill>
          <a:ln xmlns:a="http://schemas.openxmlformats.org/drawingml/2006/main" w="11430">
            <a:solidFill>
              <a:srgbClr val="84D65A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2f04b77a69432c">
            <a:extLst>
              <a:ext uri="{96DAC541-7B7A-43D3-8B79-37D633B846F1}">
                <asvg:svgBlip xmlns:asvg="http://schemas.microsoft.com/office/drawing/2016/SVG/main" r:embed="R5f2d1d61c5cd4f5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05325" y="319087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2E964A-D5A8-4EB3-9369-78CCBE9D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105150"/>
            <a:ext cx="207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4D65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4D65A"/>
                </a:solidFill>
                <a:latin typeface="Aptos"/>
                <a:ea typeface="Aptos"/>
                <a:cs typeface="Aptos"/>
              </a:rPr>
              <a:t>GitHub Actions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156FF9-037A-4DC8-A469-6AA694B3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81400"/>
            <a:ext cx="2533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OIDC-backed workflows publish latest-main and short-SHA tags.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285E18-5DD9-4658-9538-25595F8C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48000"/>
            <a:ext cx="2952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D16AE5-B1C9-4503-B882-CF80201D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90850"/>
            <a:ext cx="2952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C2E382-9A8D-4E11-B929-33A8E724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933700"/>
            <a:ext cx="2952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1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FD26FE-F413-4264-8CEB-7902C5CD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1623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1830AC-2CB5-4CC9-AE04-F8C54548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051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8"/>
          </a:solidFill>
          <a:ln xmlns:a="http://schemas.openxmlformats.org/drawingml/2006/main" w="11430">
            <a:solidFill>
              <a:srgbClr val="F7C948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d2251cc82d476f">
            <a:extLst>
              <a:ext uri="{96DAC541-7B7A-43D3-8B79-37D633B846F1}">
                <asvg:svgBlip xmlns:asvg="http://schemas.microsoft.com/office/drawing/2016/SVG/main" r:embed="R26e71c2d20cd4d4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15275" y="319087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BA8A6D-81FD-46F4-90B2-28669F04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05150"/>
            <a:ext cx="207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C94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C948"/>
                </a:solidFill>
                <a:latin typeface="Aptos"/>
                <a:ea typeface="Aptos"/>
                <a:cs typeface="Aptos"/>
              </a:rPr>
              <a:t>Runtime promotion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45A5A0-AB32-4742-9D8B-6FC702E2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581400"/>
            <a:ext cx="2533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Manual promotion deploys selected tags and verifies release health.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602004-1C36-4CAE-A615-35892B0A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953000"/>
            <a:ext cx="2952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96D2CC-12F3-47BF-AA24-78658C37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895850"/>
            <a:ext cx="2952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8451ED0-CB96-436F-8650-B708DBED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38700"/>
            <a:ext cx="2952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1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EA72C57-762A-4075-804D-403899DC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50673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C3A7C5-92BA-4190-883F-198E2F7C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0101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8"/>
          </a:solidFill>
          <a:ln xmlns:a="http://schemas.openxmlformats.org/drawingml/2006/main" w="11430">
            <a:solidFill>
              <a:srgbClr val="F97373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bb038dd355489e">
            <a:extLst>
              <a:ext uri="{96DAC541-7B7A-43D3-8B79-37D633B846F1}">
                <asvg:svgBlip xmlns:asvg="http://schemas.microsoft.com/office/drawing/2016/SVG/main" r:embed="Rd0ffb72d8bd34ff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828925" y="509587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70BE09C-DCEE-4432-AEB5-44032F6D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010150"/>
            <a:ext cx="207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9737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97373"/>
                </a:solidFill>
                <a:latin typeface="Aptos"/>
                <a:ea typeface="Aptos"/>
                <a:cs typeface="Aptos"/>
              </a:rPr>
              <a:t>Workflow checks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9F23CA7-D4B5-43A8-879A-88138334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486400"/>
            <a:ext cx="2533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make ci-cd-check guards publish and promotion workflow integrity.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05E82ED-2D27-49FF-B973-8F8B4F42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953000"/>
            <a:ext cx="2952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068F3C9-99C0-42D4-9B3F-D699ED27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895850"/>
            <a:ext cx="2952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712E82D-43F2-4977-AB25-8D71383A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38700"/>
            <a:ext cx="2952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1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5F05099-F460-4D3E-97C5-51CADB7F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50673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3965112-915E-4FE5-B66A-B5C09C62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0101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8"/>
          </a:solidFill>
          <a:ln xmlns:a="http://schemas.openxmlformats.org/drawingml/2006/main" w="11430">
            <a:solidFill>
              <a:srgbClr val="3DD6D0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d69118ffd84d3a">
            <a:extLst>
              <a:ext uri="{96DAC541-7B7A-43D3-8B79-37D633B846F1}">
                <asvg:svgBlip xmlns:asvg="http://schemas.microsoft.com/office/drawing/2016/SVG/main" r:embed="Rcc37e26906df431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38875" y="509587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652E78C-B8E3-481D-9792-CF0EAC05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10150"/>
            <a:ext cx="207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D6D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DD6D0"/>
                </a:solidFill>
                <a:latin typeface="Aptos"/>
                <a:ea typeface="Aptos"/>
                <a:cs typeface="Aptos"/>
              </a:rPr>
              <a:t>Image checks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AB5D398-A06E-42A9-8787-CC04F279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86400"/>
            <a:ext cx="2533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make runtime-image-check verifies selected tags exist before rollout.</a:t>
            </a:r>
          </a:p>
        </p:txBody>
      </p:sp>
    </p:spTree>
    <p:extLst>
      <p:ext uri="{BB962C8B-B14F-4D97-AF65-F5344CB8AC3E}">
        <p14:creationId xmlns:p14="http://schemas.microsoft.com/office/powerpoint/2010/main" val="119305564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DCBB6D-4092-48B8-B4D9-4BBAB220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080FEC-2219-4021-885C-F41627DA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0"/>
            <a:ext cx="276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081C32-7C12-4492-AEC4-00C25199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-381000"/>
            <a:ext cx="95250" cy="781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005ADC-9E8C-4146-8933-BECBEEA0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06D7E0-0E82-4C13-BF1C-E77E0AF1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4C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AB4C5"/>
                </a:solidFill>
                <a:latin typeface="Aptos"/>
                <a:ea typeface="Aptos"/>
                <a:cs typeface="Aptos"/>
              </a:rPr>
              <a:t>MSDS 432 Group 4 | Smart City Zero-Disk IoT Infrastructure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8BFF16-428B-4AC9-8A2C-78DC8239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AB4C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AB4C5"/>
                </a:solidFill>
                <a:latin typeface="Aptos"/>
                <a:ea typeface="Aptos"/>
                <a:cs typeface="Aptos"/>
              </a:rPr>
              <a:t>11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CCF8D7-6C12-42E5-9568-E5B12A0C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7AEC43-19B7-44AA-A454-84FC52CC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D6D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DD6D0"/>
                </a:solidFill>
                <a:latin typeface="Aptos"/>
                <a:ea typeface="Aptos"/>
                <a:cs typeface="Aptos"/>
              </a:rPr>
              <a:t>RELIABILITY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6E33B7-56DA-47BF-9B90-0DDD4BB6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9334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runtime has health, backup, and restore proof.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723737-25E9-4E1D-AE1D-222EB1F6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4C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AB4C5"/>
                </a:solidFill>
                <a:latin typeface="Aptos"/>
                <a:ea typeface="Aptos"/>
                <a:cs typeface="Aptos"/>
              </a:rPr>
              <a:t>These checks make the project feel operated, not merely launched.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BADAE0-BFB5-43D7-8E56-AFD404F3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5F9761-306D-4E7F-8286-4C2F2F12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718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165E09-C5E1-43F0-873F-73C3109D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1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E914A2-3C15-406A-8858-017F18D0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432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8098D8-AB63-4DD5-8620-2DE9C8D7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861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8"/>
          </a:solidFill>
          <a:ln xmlns:a="http://schemas.openxmlformats.org/drawingml/2006/main" w="11430">
            <a:solidFill>
              <a:srgbClr val="84D65A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a64dc4d7314d35">
            <a:extLst>
              <a:ext uri="{96DAC541-7B7A-43D3-8B79-37D633B846F1}">
                <asvg:svgBlip xmlns:asvg="http://schemas.microsoft.com/office/drawing/2016/SVG/main" r:embed="R71074ffd57574f7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38225" y="317182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70E0FD-F130-46E5-89E7-8F332C2C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86100"/>
            <a:ext cx="1981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4D65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4D65A"/>
                </a:solidFill>
                <a:latin typeface="Aptos"/>
                <a:ea typeface="Aptos"/>
                <a:cs typeface="Aptos"/>
              </a:rPr>
              <a:t>Runtime health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842081-6A67-4131-B47A-5FEBA315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6235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Pods, jobs, PVCs, logs, images, and latest object checks.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E74A6F-B026-478D-A502-9CA12366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2895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21BE48-256E-44D0-9CFF-BA666CB4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9718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697D37-A8A8-4D34-A840-B0DD9898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1465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1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C32185-EF65-4FAC-8E04-338882FB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1432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56611E-621E-45FB-B55A-75FE9ECB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861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8"/>
          </a:solidFill>
          <a:ln xmlns:a="http://schemas.openxmlformats.org/drawingml/2006/main" w="11430">
            <a:solidFill>
              <a:srgbClr val="3DD6D0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4b8e5e5cfe4b7f">
            <a:extLst>
              <a:ext uri="{96DAC541-7B7A-43D3-8B79-37D633B846F1}">
                <asvg:svgBlip xmlns:asvg="http://schemas.microsoft.com/office/drawing/2016/SVG/main" r:embed="Re825011b04d6434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352925" y="317182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62D24F-F726-48AC-95FC-2F157C4C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86100"/>
            <a:ext cx="1981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D6D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DD6D0"/>
                </a:solidFill>
                <a:latin typeface="Aptos"/>
                <a:ea typeface="Aptos"/>
                <a:cs typeface="Aptos"/>
              </a:rPr>
              <a:t>Backups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050090-11BD-4BFD-96A7-CF499315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56235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GKE job exports TimescaleDB state to GCS for recovery evidence.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B5454E-4AAB-4BEE-AFFC-67847AF4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2895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C29442-01B4-44C4-94A9-2569669A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718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A8FD69-C9EE-4778-AAFF-CE17D473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1465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1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1B528C-3F8B-4BE6-819E-B117DF61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1432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DC7C82-8C9A-43A6-B18B-CBCD282F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0861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8"/>
          </a:solidFill>
          <a:ln xmlns:a="http://schemas.openxmlformats.org/drawingml/2006/main" w="11430">
            <a:solidFill>
              <a:srgbClr val="F7C948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dafcc8ccf4456b">
            <a:extLst>
              <a:ext uri="{96DAC541-7B7A-43D3-8B79-37D633B846F1}">
                <asvg:svgBlip xmlns:asvg="http://schemas.microsoft.com/office/drawing/2016/SVG/main" r:embed="Rf01204ec5c18428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67625" y="317182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F07636-FF5E-4DC0-B18D-8C67FE51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86100"/>
            <a:ext cx="1981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C94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C948"/>
                </a:solidFill>
                <a:latin typeface="Aptos"/>
                <a:ea typeface="Aptos"/>
                <a:cs typeface="Aptos"/>
              </a:rPr>
              <a:t>Restore test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2ED5D2-55CE-453C-810F-10AAC29EC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6235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Disposable namespace validates backup integrity without disturbing production.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B19025-6544-4063-989F-9D1E24A7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93395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E7F398-6323-4DB2-BD5E-0F0D3194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768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C003553-5B2E-46FB-A834-3555A35A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81965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1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C3DB83-E8B4-48FC-9D67-C2A62F94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0482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EE8386F-2E9E-46FA-96D9-B559ED9F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911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8"/>
          </a:solidFill>
          <a:ln xmlns:a="http://schemas.openxmlformats.org/drawingml/2006/main" w="11430">
            <a:solidFill>
              <a:srgbClr val="F97373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11415437ee4e73">
            <a:extLst>
              <a:ext uri="{96DAC541-7B7A-43D3-8B79-37D633B846F1}">
                <asvg:svgBlip xmlns:asvg="http://schemas.microsoft.com/office/drawing/2016/SVG/main" r:embed="Ra3a8a5c16b654c2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619375" y="507682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9D5CA56-CBB7-47CA-A261-F9DB476F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991100"/>
            <a:ext cx="1981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9737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97373"/>
                </a:solidFill>
                <a:latin typeface="Aptos"/>
                <a:ea typeface="Aptos"/>
                <a:cs typeface="Aptos"/>
              </a:rPr>
              <a:t>Evidence capture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73457F8-1DA7-4868-85A9-5B5FF56B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46735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make runtime-evidence writes sanitized reviewer output.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3F6192C-138A-4237-B606-4EE75B2B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93395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75952B1-E17A-4F9E-A332-1FE08D76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768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7686F0E-4704-4602-A896-09EB9781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81965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1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082071B-5EBC-4E77-BF71-7BD5D339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50482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7F46A3F-9664-49A7-8FE5-F83A61EC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9911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8"/>
          </a:solidFill>
          <a:ln xmlns:a="http://schemas.openxmlformats.org/drawingml/2006/main" w="11430">
            <a:solidFill>
              <a:srgbClr val="3DD6D0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790406f17b4cbf">
            <a:extLst>
              <a:ext uri="{96DAC541-7B7A-43D3-8B79-37D633B846F1}">
                <asvg:svgBlip xmlns:asvg="http://schemas.microsoft.com/office/drawing/2016/SVG/main" r:embed="Rde64a3199d31482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34075" y="507682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69395D7-85FC-4F64-8067-945A89C3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91100"/>
            <a:ext cx="1981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D6D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DD6D0"/>
                </a:solidFill>
                <a:latin typeface="Aptos"/>
                <a:ea typeface="Aptos"/>
                <a:cs typeface="Aptos"/>
              </a:rPr>
              <a:t>Demo recovery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5DE8970-47A3-484D-BA56-27B8532D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46735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runbooks show how to start, stop, idle, resume, and clean up safely.</a:t>
            </a:r>
          </a:p>
        </p:txBody>
      </p:sp>
    </p:spTree>
    <p:extLst>
      <p:ext uri="{BB962C8B-B14F-4D97-AF65-F5344CB8AC3E}">
        <p14:creationId xmlns:p14="http://schemas.microsoft.com/office/powerpoint/2010/main" val="73308455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6C2A9A-228C-4202-8942-D366E0D0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7892F5-4711-48C2-A43A-A2D38E1E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0"/>
            <a:ext cx="276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FA4C81-5691-4475-8CCE-E74651AD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-381000"/>
            <a:ext cx="95250" cy="781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0567F6-658D-4216-9DED-6A3D03F0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ADE1F0-68AA-47FE-9C9A-EBC6D124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4C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AB4C5"/>
                </a:solidFill>
                <a:latin typeface="Aptos"/>
                <a:ea typeface="Aptos"/>
                <a:cs typeface="Aptos"/>
              </a:rPr>
              <a:t>MSDS 432 Group 4 | Smart City Zero-Disk IoT Infrastructure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F6F99D-D185-4AC0-B4EC-7FE26753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AB4C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AB4C5"/>
                </a:solidFill>
                <a:latin typeface="Aptos"/>
                <a:ea typeface="Aptos"/>
                <a:cs typeface="Aptos"/>
              </a:rPr>
              <a:t>12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BE593B-9873-4F9C-93AC-22C93820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B69D52-FCF1-4E48-B540-60025E11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D6D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DD6D0"/>
                </a:solidFill>
                <a:latin typeface="Aptos"/>
                <a:ea typeface="Aptos"/>
                <a:cs typeface="Aptos"/>
              </a:rPr>
              <a:t>COST GOVERNANCE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252A78-85ED-4021-A628-6F28CB34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9334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Demo operations are explicit, reversible, and cost-aware.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C48135-F87F-4583-BB5F-4926222A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4C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AB4C5"/>
                </a:solidFill>
                <a:latin typeface="Aptos"/>
                <a:ea typeface="Aptos"/>
                <a:cs typeface="Aptos"/>
              </a:rPr>
              <a:t>The runtime can be placed in demo, idle, and resume modes without deleting persistent storage.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F82548-99F5-4A87-82D3-5A9F513D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14650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868EEA-FE87-4841-AB7C-DFC71761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57500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311509-AC9B-4405-A0E4-762762C17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00350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9B476A-4128-4162-90F1-17808D67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146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4D65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4D65A"/>
                </a:solidFill>
                <a:latin typeface="Aptos"/>
                <a:ea typeface="Aptos"/>
                <a:cs typeface="Aptos"/>
              </a:rPr>
              <a:t>Demo mode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4E2BFE-616D-4C27-A9F2-9BEF42FD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905125"/>
            <a:ext cx="457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resume workloads and CronJobs for a review window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5110A0-147A-4470-8325-F1570A7E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57600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47F7EC-D539-4B16-BE86-0DA83891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00450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48E7A2-094A-49EB-A785-545953FD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831E37-E46B-43FF-8CFD-3A959A82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D6D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DD6D0"/>
                </a:solidFill>
                <a:latin typeface="Aptos"/>
                <a:ea typeface="Aptos"/>
                <a:cs typeface="Aptos"/>
              </a:rPr>
              <a:t>Idle mode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3EEA87-D441-4830-979B-36FDED46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648075"/>
            <a:ext cx="457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disable public ingress and scale optional workloads down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DCA5CF-CE92-4F82-A29B-1DFCA79E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00550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088252-D49B-4F8F-846B-2B585BE3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43400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0ADA30-A471-4067-9C67-DE11A956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86250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7A0DC8-F4B7-4D6A-85EB-C36AA3FA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005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C94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C948"/>
                </a:solidFill>
                <a:latin typeface="Aptos"/>
                <a:ea typeface="Aptos"/>
                <a:cs typeface="Aptos"/>
              </a:rPr>
              <a:t>Resume mode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AF9D0D-A3E0-4C55-B5EB-D45B08E5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391025"/>
            <a:ext cx="457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bring the runtime back and validate health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81D320-CCE5-46F0-97DE-2E824C2D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43500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AB5C13-D830-4007-90A4-903A3A4D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86350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4512AB-F20A-4917-8B94-FC7FEBB4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29200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8026C1-FD02-4E41-9D53-BD6FA758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9737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97373"/>
                </a:solidFill>
                <a:latin typeface="Aptos"/>
                <a:ea typeface="Aptos"/>
                <a:cs typeface="Aptos"/>
              </a:rPr>
              <a:t>Cost report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3340B6-837A-42D8-AFBE-2E7F46EC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133975"/>
            <a:ext cx="457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summarize active resources and public demo posture</a:t>
            </a:r>
          </a:p>
        </p:txBody>
      </p:sp>
    </p:spTree>
    <p:extLst>
      <p:ext uri="{BB962C8B-B14F-4D97-AF65-F5344CB8AC3E}">
        <p14:creationId xmlns:p14="http://schemas.microsoft.com/office/powerpoint/2010/main" val="207200670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ADBAC1-365F-4571-9C28-8D318304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8D7C55-299B-4DDF-94A8-571E5DD7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0"/>
            <a:ext cx="276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222464-29B1-4D55-83CC-466521CF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-381000"/>
            <a:ext cx="95250" cy="781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172486-316E-4193-AEA6-2E5EADE3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11519D-5820-4B63-91B8-19EA9BBC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4C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AB4C5"/>
                </a:solidFill>
                <a:latin typeface="Aptos"/>
                <a:ea typeface="Aptos"/>
                <a:cs typeface="Aptos"/>
              </a:rPr>
              <a:t>MSDS 432 Group 4 | Smart City Zero-Disk IoT Infrastructure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ED7943-014E-4A62-AE37-E27B21DC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AB4C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AB4C5"/>
                </a:solidFill>
                <a:latin typeface="Aptos"/>
                <a:ea typeface="Aptos"/>
                <a:cs typeface="Aptos"/>
              </a:rPr>
              <a:t>13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6F55EC-6B0D-4923-8E4A-CDB72820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AD680D-4531-44CC-83B3-2433A6D3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D6D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DD6D0"/>
                </a:solidFill>
                <a:latin typeface="Aptos"/>
                <a:ea typeface="Aptos"/>
                <a:cs typeface="Aptos"/>
              </a:rPr>
              <a:t>STREAMLIT REPORTING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7FB6C5-C85F-4BF9-9BE9-A5AE1604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9144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Streamlit is the polished public command center.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8BE668-6362-4C28-B7DF-77032929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866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4C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AB4C5"/>
                </a:solidFill>
                <a:latin typeface="Aptos"/>
                <a:ea typeface="Aptos"/>
                <a:cs typeface="Aptos"/>
              </a:rPr>
              <a:t>It turns backend data into a product-like review experience for city operations and historical evidence.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D59465-13D3-4E27-8A10-2CBA53EB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14650"/>
            <a:ext cx="42672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07EF01-188F-4DCE-AFC2-A71CA501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42672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97A994-60E7-4CE6-B214-6ECA7715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42672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485C00-CE64-4553-9A4C-8F664813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2420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D6D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DD6D0"/>
                </a:solidFill>
                <a:latin typeface="Aptos"/>
                <a:ea typeface="Aptos"/>
                <a:cs typeface="Aptos"/>
              </a:rPr>
              <a:t>Reviewer-facing views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BC94E7-056A-4336-AF56-98AD92D5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38550"/>
            <a:ext cx="3333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- Executive KPIs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- Air, weather, water, mobility reporting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- Source health and coverage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- Sensor map and latest readings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- Historical archive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34762F-DCCB-43B1-B90C-15E24670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14650"/>
            <a:ext cx="3714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4B529A-98FB-4431-B4C4-3793714C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57500"/>
            <a:ext cx="3714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A85D06-5F27-4B91-9148-FEF444FB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3714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63C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7FE9DF-5F10-47D1-9CEF-B7E39232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242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4D65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84D65A"/>
                </a:solidFill>
                <a:latin typeface="Aptos"/>
                <a:ea typeface="Aptos"/>
                <a:cs typeface="Aptos"/>
              </a:rPr>
              <a:t>Demo commands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1DD6D1-B674-4BEC-B391-7537F218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38550"/>
            <a:ext cx="2857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make run-streamlit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or guarded public demo: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ALLOW_PUBLIC_INGRESS=yes make public-demo-apply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make public-demo-url</a:t>
            </a:r>
          </a:p>
        </p:txBody>
      </p:sp>
    </p:spTree>
    <p:extLst>
      <p:ext uri="{BB962C8B-B14F-4D97-AF65-F5344CB8AC3E}">
        <p14:creationId xmlns:p14="http://schemas.microsoft.com/office/powerpoint/2010/main" val="6166186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A594B5-CC49-4F10-B75E-C6D84FBB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8C1E09-7EE2-437C-8495-748EBD6D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0"/>
            <a:ext cx="276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E99EB9-108D-46B7-A37A-FC5F3195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-381000"/>
            <a:ext cx="95250" cy="781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172EB6-FC49-47E4-B518-9FD71590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5A2F30-2ACE-4798-B41B-39F74588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4C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AB4C5"/>
                </a:solidFill>
                <a:latin typeface="Aptos"/>
                <a:ea typeface="Aptos"/>
                <a:cs typeface="Aptos"/>
              </a:rPr>
              <a:t>MSDS 432 Group 4 | Smart City Zero-Disk IoT Infrastructure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273031-7098-417A-9387-5AC968CED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AB4C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AB4C5"/>
                </a:solidFill>
                <a:latin typeface="Aptos"/>
                <a:ea typeface="Aptos"/>
                <a:cs typeface="Aptos"/>
              </a:rPr>
              <a:t>14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46291E-D2F0-420A-955E-287DA8C4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C4B820-B730-4344-9BF9-11D0F9BA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D6D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DD6D0"/>
                </a:solidFill>
                <a:latin typeface="Aptos"/>
                <a:ea typeface="Aptos"/>
                <a:cs typeface="Aptos"/>
              </a:rPr>
              <a:t>GRAFANA OPERATIONS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507C7F-4711-44F7-B981-EF7CD234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9334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Grafana is the enterprise operations room for the data platform.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4B8D74-BDDF-4339-AF77-7CB500B9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885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4C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AB4C5"/>
                </a:solidFill>
                <a:latin typeface="Aptos"/>
                <a:ea typeface="Aptos"/>
                <a:cs typeface="Aptos"/>
              </a:rPr>
              <a:t>It complements Streamlit by emphasizing ingestion health, sensor estate, geomap, coverage, and data quality.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59DB73-CA56-40E9-B342-E129D9DB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2895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963BE8-F198-475A-8EA3-146C2265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62BC92-ADD9-4047-ADB1-A8DDB5FC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1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180E1F-F070-45EE-AF63-2E67D22A0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1432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5040ED-66D8-454A-9C69-4E14FAA0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8"/>
          </a:solidFill>
          <a:ln xmlns:a="http://schemas.openxmlformats.org/drawingml/2006/main" w="11430">
            <a:solidFill>
              <a:srgbClr val="3DD6D0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e0e2363f8b4302">
            <a:extLst>
              <a:ext uri="{96DAC541-7B7A-43D3-8B79-37D633B846F1}">
                <asvg:svgBlip xmlns:asvg="http://schemas.microsoft.com/office/drawing/2016/SVG/main" r:embed="Rd83b78d72589445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57275" y="317182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ACD03E-E45D-478C-93D0-13807157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086100"/>
            <a:ext cx="1981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D6D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DD6D0"/>
                </a:solidFill>
                <a:latin typeface="Aptos"/>
                <a:ea typeface="Aptos"/>
                <a:cs typeface="Aptos"/>
              </a:rPr>
              <a:t>Executive overview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616A8A-CC82-44BD-99F3-876F5A30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6235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readings, sensors, source coverage, valid rate, freshness, drops.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C621A9-FD84-4F45-9EB1-DDC837A6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2895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CDC9C9-D7BF-4D8A-B022-A71E1D8D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9718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71772C-7D85-4874-B3CB-474DBFB6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91465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1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314536-2B75-4F67-A063-01647971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432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E544E5-C023-459D-BE82-27020006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861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8"/>
          </a:solidFill>
          <a:ln xmlns:a="http://schemas.openxmlformats.org/drawingml/2006/main" w="11430">
            <a:solidFill>
              <a:srgbClr val="84D65A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deaf7cc5f54ea9">
            <a:extLst>
              <a:ext uri="{96DAC541-7B7A-43D3-8B79-37D633B846F1}">
                <asvg:svgBlip xmlns:asvg="http://schemas.microsoft.com/office/drawing/2016/SVG/main" r:embed="Re42e18d200f7448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371975" y="317182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1DC71B-7DD2-4FAD-B256-54563EA6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86100"/>
            <a:ext cx="1981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4D65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4D65A"/>
                </a:solidFill>
                <a:latin typeface="Aptos"/>
                <a:ea typeface="Aptos"/>
                <a:cs typeface="Aptos"/>
              </a:rPr>
              <a:t>Ingestion operations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4CDBC4-783C-488A-8873-DB512B49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6235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queue throughput, backpressure channel fill, metric freshness.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FC2D8A-DC85-4372-9343-6751E1668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2895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A82DE1-ED72-4C53-9203-C42485D1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9718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1FE1B9-34CD-43FD-A9FE-53D6FE1E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1465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1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6EF127-9675-4709-A12D-AC5F47F9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1432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43C936-AAFB-4622-BEAF-DAADC44E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861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8"/>
          </a:solidFill>
          <a:ln xmlns:a="http://schemas.openxmlformats.org/drawingml/2006/main" w="11430">
            <a:solidFill>
              <a:srgbClr val="F7C948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2e9abdef3f439b">
            <a:extLst>
              <a:ext uri="{96DAC541-7B7A-43D3-8B79-37D633B846F1}">
                <asvg:svgBlip xmlns:asvg="http://schemas.microsoft.com/office/drawing/2016/SVG/main" r:embed="Rf1b5d352f76c474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86675" y="317182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BD4528-D861-4819-83FE-C9485999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86100"/>
            <a:ext cx="1981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C94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C948"/>
                </a:solidFill>
                <a:latin typeface="Aptos"/>
                <a:ea typeface="Aptos"/>
                <a:cs typeface="Aptos"/>
              </a:rPr>
              <a:t>Sensor estate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EE64AB-B620-4EF1-9E44-0C311F3E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6235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metric coverage, latest readings, freshness table, native geomap.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C413F3-3A8A-4D12-9434-96CD28C2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93395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811324-1D97-4C7B-B5EC-9E6EAFC5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8768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C900B6D-37EF-4207-8F71-8BD2052D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1965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1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CD3746-6952-4185-A9F3-94EB11F6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50482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CCE7E6B-4369-47CD-A2BF-E282EEB3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9911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8"/>
          </a:solidFill>
          <a:ln xmlns:a="http://schemas.openxmlformats.org/drawingml/2006/main" w="11430">
            <a:solidFill>
              <a:srgbClr val="F97373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f4fd0640504683">
            <a:extLst>
              <a:ext uri="{96DAC541-7B7A-43D3-8B79-37D633B846F1}">
                <asvg:svgBlip xmlns:asvg="http://schemas.microsoft.com/office/drawing/2016/SVG/main" r:embed="R678eb52459d847a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714625" y="507682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E550DBB-C676-4BE9-85DE-40870DB1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91100"/>
            <a:ext cx="1981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9737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97373"/>
                </a:solidFill>
                <a:latin typeface="Aptos"/>
                <a:ea typeface="Aptos"/>
                <a:cs typeface="Aptos"/>
              </a:rPr>
              <a:t>City domains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907EB5B-7AA4-4F19-A52B-7AA3F719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46735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air quality, weather, water, and mobility trend panels.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FCEE715-8FF8-48AD-985E-E066DB9B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93395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162DCD6-3AAE-4925-A257-D021F4E47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768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A15A06D-51D1-4248-BB1E-5021189C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81965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1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2AC7BD2-5435-41A1-A5AD-867E356E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50482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7A71F9C-BFE6-4705-831B-EFD8CDFF4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9911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8"/>
          </a:solidFill>
          <a:ln xmlns:a="http://schemas.openxmlformats.org/drawingml/2006/main" w="11430">
            <a:solidFill>
              <a:srgbClr val="3DD6D0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76044d98744555">
            <a:extLst>
              <a:ext uri="{96DAC541-7B7A-43D3-8B79-37D633B846F1}">
                <asvg:svgBlip xmlns:asvg="http://schemas.microsoft.com/office/drawing/2016/SVG/main" r:embed="R12457563a8ba491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29325" y="507682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A132325-992C-441C-BB83-663C555D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91100"/>
            <a:ext cx="1981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D6D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DD6D0"/>
                </a:solidFill>
                <a:latin typeface="Aptos"/>
                <a:ea typeface="Aptos"/>
                <a:cs typeface="Aptos"/>
              </a:rPr>
              <a:t>Quality lens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EB55E5D-25FA-4DE6-86A9-422328E5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46735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quality distribution, valid rate by source, suspect/invalid review.</a:t>
            </a:r>
          </a:p>
        </p:txBody>
      </p:sp>
    </p:spTree>
    <p:extLst>
      <p:ext uri="{BB962C8B-B14F-4D97-AF65-F5344CB8AC3E}">
        <p14:creationId xmlns:p14="http://schemas.microsoft.com/office/powerpoint/2010/main" val="146880828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BC970D-2122-4CB0-B230-52D8D3FF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FFD0C8-A440-4256-90F2-75D36681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0"/>
            <a:ext cx="276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82494F-218B-4192-AB94-5ADBBC8C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-381000"/>
            <a:ext cx="95250" cy="781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110F1F-FF18-43E9-8EBB-81FB3759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2C13CF-5FA6-4AB2-ADC4-B2BB8E1F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4C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AB4C5"/>
                </a:solidFill>
                <a:latin typeface="Aptos"/>
                <a:ea typeface="Aptos"/>
                <a:cs typeface="Aptos"/>
              </a:rPr>
              <a:t>MSDS 432 Group 4 | Smart City Zero-Disk IoT Infrastructure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AA9240-1D05-467A-9830-C59BA390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AB4C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AB4C5"/>
                </a:solidFill>
                <a:latin typeface="Aptos"/>
                <a:ea typeface="Aptos"/>
                <a:cs typeface="Aptos"/>
              </a:rPr>
              <a:t>15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E2EEAF-F7C8-4EFA-9502-362B84D8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7AEE5B-D431-48C2-A88A-96AE12C3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D6D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DD6D0"/>
                </a:solidFill>
                <a:latin typeface="Aptos"/>
                <a:ea typeface="Aptos"/>
                <a:cs typeface="Aptos"/>
              </a:rPr>
              <a:t>DEMO SCRIPT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6DF277-3D85-484D-A8E3-C8664EFE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9334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live review path moves from backend proof to reporting proof.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0DB37A-B6B6-48DF-92C4-4B0EF244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866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4C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AB4C5"/>
                </a:solidFill>
                <a:latin typeface="Aptos"/>
                <a:ea typeface="Aptos"/>
                <a:cs typeface="Aptos"/>
              </a:rPr>
              <a:t>This sequence keeps the presentation practical and avoids re-litigating Phase 2 design details.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1A5154-2F10-494B-AB55-8DD7E125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20002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28076B-A054-4BD4-AB79-DE972C71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20002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F3E3D3-7C57-4FCB-9EFD-B127A187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20002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389C1C-8E90-40A1-A562-58C636CB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7660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D6D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3DD6D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E19F5C-924D-432C-8924-EDC3D0B2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3718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Seed + poll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3D2C72-4635-4B6B-A61F-C76F2A71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86200"/>
            <a:ext cx="1581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make grafana-demo-ready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4A8FB9-C148-4314-8B33-387D333A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8100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B7C520-D51B-49FE-9578-62A1ED76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733800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C68560-B845-45FA-A743-39897A5AA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00400"/>
            <a:ext cx="20002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E4047E-9CB7-4855-AD09-460E7CC10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43250"/>
            <a:ext cx="20002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CEFB0C-ABCB-4A02-B9E2-3F13D564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86100"/>
            <a:ext cx="20002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D6ABFA-CE6C-4A42-A6A2-D4B071EB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7660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4D65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84D65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210026-3E9D-431E-8DC2-9996DA84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3718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Show Grafana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A9485C-AF7D-43D3-8F1D-923F74D4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86200"/>
            <a:ext cx="1581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ingestion, geomap, quality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8B139E-C44C-4B96-8C85-AEB18E91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8100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D6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B5C7A7-C324-4405-9788-A208AA59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33800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D6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D82F48-049A-45BC-918C-A9E61164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200400"/>
            <a:ext cx="20002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12E4B2-A811-4261-8F3B-8C09C605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43250"/>
            <a:ext cx="20002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46A7E3-A198-413F-AB34-614137FB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086100"/>
            <a:ext cx="20002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9A8EE9-2EAD-413C-A0D4-3EFF7B38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7660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C94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7C94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662EA3-B6B3-49AC-8064-05CD2126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718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Show Streamlit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3F0BAC-393D-4911-AD9E-461F6DBB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86200"/>
            <a:ext cx="1581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executive and city views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C6F8B4-ABBF-4AC1-B76E-1DEA4BE3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100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21F230-A958-4955-9441-E20C0B60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33800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26A4CE-B098-4020-9886-AB395193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00400"/>
            <a:ext cx="20002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CF159E-E479-4192-85A0-7951A05D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43250"/>
            <a:ext cx="20002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84CD7C8-CE2F-45CB-BFB0-CE8D1DEF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86100"/>
            <a:ext cx="20002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03287FF-E55D-49DB-A4BE-3A7609BF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7660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9737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97373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E085C95-2F22-4294-8EBD-2ACFBF32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718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Show runtime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05F2CB-05A0-4B9F-8EDC-04C4E1F4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86200"/>
            <a:ext cx="1581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health, release, cost, evidence</a:t>
            </a:r>
          </a:p>
        </p:txBody>
      </p:sp>
    </p:spTree>
    <p:extLst>
      <p:ext uri="{BB962C8B-B14F-4D97-AF65-F5344CB8AC3E}">
        <p14:creationId xmlns:p14="http://schemas.microsoft.com/office/powerpoint/2010/main" val="84480814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4F5B15-8B7E-43D1-AD67-6E8F875D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6C29D1-1F56-4A49-9169-7B452596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0"/>
            <a:ext cx="276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C1B5CC-FF70-4CE2-A4F7-29A2420C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-381000"/>
            <a:ext cx="95250" cy="781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CE88CC-26E5-4F5C-8CF1-FC0E9E6F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9BE38B-57F8-458F-A015-DD782EB1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4C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AB4C5"/>
                </a:solidFill>
                <a:latin typeface="Aptos"/>
                <a:ea typeface="Aptos"/>
                <a:cs typeface="Aptos"/>
              </a:rPr>
              <a:t>MSDS 432 Group 4 | Smart City Zero-Disk IoT Infrastructure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68080C-7300-4008-894D-445F2618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AB4C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AB4C5"/>
                </a:solidFill>
                <a:latin typeface="Aptos"/>
                <a:ea typeface="Aptos"/>
                <a:cs typeface="Aptos"/>
              </a:rPr>
              <a:t>16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058F8E-9E74-43D1-8A1D-B57DD448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7B2BF1-41F3-4A2E-9DFB-F1AAC38E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D6D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DD6D0"/>
                </a:solidFill>
                <a:latin typeface="Aptos"/>
                <a:ea typeface="Aptos"/>
                <a:cs typeface="Aptos"/>
              </a:rPr>
              <a:t>SAFETY, PRIVACY, SECURITY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F3498A-4473-49FB-989C-039F1B05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9334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Reviewer access is useful without exposing the platform unsafely.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B2D845-2425-47A7-B212-0A993F7C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4C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AB4C5"/>
                </a:solidFill>
                <a:latin typeface="Aptos"/>
                <a:ea typeface="Aptos"/>
                <a:cs typeface="Aptos"/>
              </a:rPr>
              <a:t>The implementation includes practical guardrails around secrets, public access, cloud mutation, and recovery.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C51ADD-0739-4CC0-BC9F-23963BFA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E9A86F-2BE2-4CC2-A513-ECB1B189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06E127-C86E-403D-94AA-ED33616FC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1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35A768-D414-49D2-84DC-869AF127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DCA13F-EBA7-4EFD-8788-8D926DEA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623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8"/>
          </a:solidFill>
          <a:ln xmlns:a="http://schemas.openxmlformats.org/drawingml/2006/main" w="11430">
            <a:solidFill>
              <a:srgbClr val="3DD6D0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db75fe9baf4b98">
            <a:extLst>
              <a:ext uri="{96DAC541-7B7A-43D3-8B79-37D633B846F1}">
                <asvg:svgBlip xmlns:asvg="http://schemas.microsoft.com/office/drawing/2016/SVG/main" r:embed="R8d6e5035c3b0412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76325" y="324802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E39E3E-8119-4746-855D-9E6BCE63E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62300"/>
            <a:ext cx="1981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D6D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DD6D0"/>
                </a:solidFill>
                <a:latin typeface="Aptos"/>
                <a:ea typeface="Aptos"/>
                <a:cs typeface="Aptos"/>
              </a:rPr>
              <a:t>No secret package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8C948E-4BD6-48BF-8DFB-F7A1BE6C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3855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.env, Terraform state, local data, caches, and artifacts are excluded.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8CECCC-C188-4BB2-9875-6715996D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0515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39C985-D213-45D6-BB5F-68CBDB43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480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690378-E599-4BBD-857D-FE6B34E4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99085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1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B97632-51EB-4212-8431-F179C8D0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2194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AF561F-13E5-42F4-AE28-ABBE78C9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623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8"/>
          </a:solidFill>
          <a:ln xmlns:a="http://schemas.openxmlformats.org/drawingml/2006/main" w="11430">
            <a:solidFill>
              <a:srgbClr val="84D65A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34f46732e946fc">
            <a:extLst>
              <a:ext uri="{96DAC541-7B7A-43D3-8B79-37D633B846F1}">
                <asvg:svgBlip xmlns:asvg="http://schemas.microsoft.com/office/drawing/2016/SVG/main" r:embed="Ra56a6379411d46d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391025" y="324802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1BB856-63B3-4FEE-8EC1-FFC393A2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162300"/>
            <a:ext cx="1981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4D65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4D65A"/>
                </a:solidFill>
                <a:latin typeface="Aptos"/>
                <a:ea typeface="Aptos"/>
                <a:cs typeface="Aptos"/>
              </a:rPr>
              <a:t>Protected demo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62B138-85F5-4C3A-88B2-110C4419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3855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Public ingress exposes only Streamlit and requires a demo password.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DB5A0E-D237-4DBD-BC11-CF3C1779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0515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C4F7B4-E943-47CE-9D7A-0DAE34C5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480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36A515-EA1D-4A16-8CD1-F230AEA8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9085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1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29E781-9B43-47CD-9F57-67D92302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2194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09A610-7FF0-4809-A616-C1683F93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623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8"/>
          </a:solidFill>
          <a:ln xmlns:a="http://schemas.openxmlformats.org/drawingml/2006/main" w="11430">
            <a:solidFill>
              <a:srgbClr val="F7C948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915b7aad0e402c">
            <a:extLst>
              <a:ext uri="{96DAC541-7B7A-43D3-8B79-37D633B846F1}">
                <asvg:svgBlip xmlns:asvg="http://schemas.microsoft.com/office/drawing/2016/SVG/main" r:embed="R266622e7174d410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705725" y="324802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FF8A4B-9EAB-402B-A6A1-795AD1D3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62300"/>
            <a:ext cx="1981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C94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C948"/>
                </a:solidFill>
                <a:latin typeface="Aptos"/>
                <a:ea typeface="Aptos"/>
                <a:cs typeface="Aptos"/>
              </a:rPr>
              <a:t>Guarded changes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85DAEC-0ED9-4123-9C59-D487588D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3855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Terraform apply and public ingress require explicit allow flags.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3148672-9257-4C11-BB1C-F5A68BF1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1015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B33F43-4A21-4552-95BD-2E40C447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9530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5BEC5A-6158-4E63-BFE3-DCF744C5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9585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1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A8F8BA-054D-4CEB-8E77-C229335F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51244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5B332E4-545F-4401-9985-454B092C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0673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8"/>
          </a:solidFill>
          <a:ln xmlns:a="http://schemas.openxmlformats.org/drawingml/2006/main" w="11430">
            <a:solidFill>
              <a:srgbClr val="F97373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f62260216744aa">
            <a:extLst>
              <a:ext uri="{96DAC541-7B7A-43D3-8B79-37D633B846F1}">
                <asvg:svgBlip xmlns:asvg="http://schemas.microsoft.com/office/drawing/2016/SVG/main" r:embed="R50c470431cee406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733675" y="515302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033A45B-69D5-4362-8265-38A67260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067300"/>
            <a:ext cx="1981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9737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97373"/>
                </a:solidFill>
                <a:latin typeface="Aptos"/>
                <a:ea typeface="Aptos"/>
                <a:cs typeface="Aptos"/>
              </a:rPr>
              <a:t>Private backend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E6983AA-1592-4810-A82D-40D75C3B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54355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Backend services remain inside the runtime network.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FBDE060-8983-4E77-B6B7-B3E2B8C9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1015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015684B-C3DD-400D-9B11-8747E9D9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9530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9A66716-86EE-43DB-BB31-16A04B94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89585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1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69F5E7E-4CA5-4666-BAA4-D609BC0C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51244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5FE318F-E771-4F41-B4BC-C9C2F80A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0673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8"/>
          </a:solidFill>
          <a:ln xmlns:a="http://schemas.openxmlformats.org/drawingml/2006/main" w="11430">
            <a:solidFill>
              <a:srgbClr val="3DD6D0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368d845b564de2">
            <a:extLst>
              <a:ext uri="{96DAC541-7B7A-43D3-8B79-37D633B846F1}">
                <asvg:svgBlip xmlns:asvg="http://schemas.microsoft.com/office/drawing/2016/SVG/main" r:embed="Ra3bf265383ec4b4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48375" y="515302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80F2E95-9822-43CB-B965-9B9B5C66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67300"/>
            <a:ext cx="1981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D6D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DD6D0"/>
                </a:solidFill>
                <a:latin typeface="Aptos"/>
                <a:ea typeface="Aptos"/>
                <a:cs typeface="Aptos"/>
              </a:rPr>
              <a:t>Recoverability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1357341-CFE4-489B-A33A-A343E813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54355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Backup and restore checks prove data recovery posture.</a:t>
            </a:r>
          </a:p>
        </p:txBody>
      </p:sp>
    </p:spTree>
    <p:extLst>
      <p:ext uri="{BB962C8B-B14F-4D97-AF65-F5344CB8AC3E}">
        <p14:creationId xmlns:p14="http://schemas.microsoft.com/office/powerpoint/2010/main" val="101000799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4B4892-A623-40AD-80A9-A9E1A54C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CFBC9E-F63B-4E69-A7B4-D15954E9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0"/>
            <a:ext cx="276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7ECA9F-B40D-494A-B2F6-30050A5A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-381000"/>
            <a:ext cx="95250" cy="781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5DC7D6-264C-409E-8EE7-A7842739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E45029-1200-435E-9437-7510A308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4C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AB4C5"/>
                </a:solidFill>
                <a:latin typeface="Aptos"/>
                <a:ea typeface="Aptos"/>
                <a:cs typeface="Aptos"/>
              </a:rPr>
              <a:t>MSDS 432 Group 4 | Smart City Zero-Disk IoT Infrastructure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39E3E0-1D39-4C20-AA5E-8AC6CE29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AB4C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AB4C5"/>
                </a:solidFill>
                <a:latin typeface="Aptos"/>
                <a:ea typeface="Aptos"/>
                <a:cs typeface="Aptos"/>
              </a:rPr>
              <a:t>17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97FBC7-1C6A-43DE-99FE-36E6B165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B1CD40-8B97-44C3-A101-4F187834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D6D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DD6D0"/>
                </a:solidFill>
                <a:latin typeface="Aptos"/>
                <a:ea typeface="Aptos"/>
                <a:cs typeface="Aptos"/>
              </a:rPr>
              <a:t>FUTURE 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3F157C-A14F-4CAD-A924-A581C2C3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9334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AI Agents are the next layer above the implemented telemetry platform.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466311-33EF-4186-9AB5-6FA9553A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4C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AB4C5"/>
                </a:solidFill>
                <a:latin typeface="Aptos"/>
                <a:ea typeface="Aptos"/>
                <a:cs typeface="Aptos"/>
              </a:rPr>
              <a:t>Frame this as future scope unless teammate code lands before final packaging, then refresh the deck and zip.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59FE6A-75F3-40C3-9266-60E9AF6B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649469-F2D2-485A-BEE5-F423F7B4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C331BB-82DF-4394-A4F8-A4C34E98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1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A52F19-F64A-4181-BAD4-33B6D229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2194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1351AF-077F-4B73-9989-E33F9546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623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8"/>
          </a:solidFill>
          <a:ln xmlns:a="http://schemas.openxmlformats.org/drawingml/2006/main" w="11430">
            <a:solidFill>
              <a:srgbClr val="3DD6D0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d10b36699144ae">
            <a:extLst>
              <a:ext uri="{96DAC541-7B7A-43D3-8B79-37D633B846F1}">
                <asvg:svgBlip xmlns:asvg="http://schemas.microsoft.com/office/drawing/2016/SVG/main" r:embed="R8e8bcbdacbcc4dc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57275" y="324802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27E043-A27E-4851-A8F7-3AD3C20E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162300"/>
            <a:ext cx="1981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D6D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DD6D0"/>
                </a:solidFill>
                <a:latin typeface="Aptos"/>
                <a:ea typeface="Aptos"/>
                <a:cs typeface="Aptos"/>
              </a:rPr>
              <a:t>Incident triage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E6B9CE-0677-4C6B-A31A-E021772C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3855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Summarize abnormal readings and recommend operator actions.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A963A0-1B08-4775-B0A5-7711CA87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10515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B65153-658A-4E01-800A-C58FB3D1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0480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F62BAC-ABF1-40A2-A820-61B1CB53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99085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1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341CDA-AB8D-4BA5-8B38-DB91CCF4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2194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45CD52-0844-4446-A8A6-12CD8FAD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623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8"/>
          </a:solidFill>
          <a:ln xmlns:a="http://schemas.openxmlformats.org/drawingml/2006/main" w="11430">
            <a:solidFill>
              <a:srgbClr val="84D65A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c3d57d3c614a9f">
            <a:extLst>
              <a:ext uri="{96DAC541-7B7A-43D3-8B79-37D633B846F1}">
                <asvg:svgBlip xmlns:asvg="http://schemas.microsoft.com/office/drawing/2016/SVG/main" r:embed="R93aa538ffb3640e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371975" y="324802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74BC28-2780-4BB7-AAAF-21686689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62300"/>
            <a:ext cx="1981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4D65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4D65A"/>
                </a:solidFill>
                <a:latin typeface="Aptos"/>
                <a:ea typeface="Aptos"/>
                <a:cs typeface="Aptos"/>
              </a:rPr>
              <a:t>Anomaly explanation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A5834C-F4AA-4C20-9A63-1BFE2D27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3855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Connect air, mobility, weather, and water signals into a cause hypothesis.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62F1E4-075D-48F2-B457-6D5799A4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0515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553807-D813-4C10-BEF9-BB170D14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480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26D462-0034-49E6-A8A9-A8637CFB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9085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1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34072D-9D1A-4B78-B000-D8C4158F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2194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AC26D0-BDA8-4D74-8D00-92CE2C35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1623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8"/>
          </a:solidFill>
          <a:ln xmlns:a="http://schemas.openxmlformats.org/drawingml/2006/main" w="11430">
            <a:solidFill>
              <a:srgbClr val="F7C948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f1e1c8cc0c4666">
            <a:extLst>
              <a:ext uri="{96DAC541-7B7A-43D3-8B79-37D633B846F1}">
                <asvg:svgBlip xmlns:asvg="http://schemas.microsoft.com/office/drawing/2016/SVG/main" r:embed="Ra262eef5a49c452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86675" y="324802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8DA42F-33CE-4567-A084-E4CBD37B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62300"/>
            <a:ext cx="1981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C94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C948"/>
                </a:solidFill>
                <a:latin typeface="Aptos"/>
                <a:ea typeface="Aptos"/>
                <a:cs typeface="Aptos"/>
              </a:rPr>
              <a:t>Operator copilot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CAF05E-2714-4C1A-9AAB-065DEA5F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3855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Answer questions over TimescaleDB and BigQuery history.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FF9B47-8F65-4DEF-B9E3-6D868222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01015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327113-2906-4EDA-859A-7DD63281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9530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DBC4D8-A75D-4939-BE16-D66C4201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89585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1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5886A9-63A5-438B-A52D-F21E6C0B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51244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D749F05-9A7F-41CF-9897-8A132D53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673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8"/>
          </a:solidFill>
          <a:ln xmlns:a="http://schemas.openxmlformats.org/drawingml/2006/main" w="11430">
            <a:solidFill>
              <a:srgbClr val="F97373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06071288464695">
            <a:extLst>
              <a:ext uri="{96DAC541-7B7A-43D3-8B79-37D633B846F1}">
                <asvg:svgBlip xmlns:asvg="http://schemas.microsoft.com/office/drawing/2016/SVG/main" r:embed="R3ef10fa0619c480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391025" y="515302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B20713-4A06-46CE-BAFA-3A13C4E2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067300"/>
            <a:ext cx="1981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9737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97373"/>
                </a:solidFill>
                <a:latin typeface="Aptos"/>
                <a:ea typeface="Aptos"/>
                <a:cs typeface="Aptos"/>
              </a:rPr>
              <a:t>Policy-aware routing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EF52666-E054-4FD6-8BBE-0FFE1F79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54355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Route alerts with safety, privacy, and access boundaries.</a:t>
            </a:r>
          </a:p>
        </p:txBody>
      </p:sp>
    </p:spTree>
    <p:extLst>
      <p:ext uri="{BB962C8B-B14F-4D97-AF65-F5344CB8AC3E}">
        <p14:creationId xmlns:p14="http://schemas.microsoft.com/office/powerpoint/2010/main" val="74915631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671768-7DE4-426B-A1AC-1D2C75C3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7856D9-0D4D-48B2-9902-88DE80C5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0"/>
            <a:ext cx="276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02B2E2-4DB5-491D-BFEE-D64EB182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-381000"/>
            <a:ext cx="95250" cy="781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65491E-350E-4CE8-8D5B-E1E2F191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566C34-69A0-4A90-8E30-A00BCD8D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4C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AB4C5"/>
                </a:solidFill>
                <a:latin typeface="Aptos"/>
                <a:ea typeface="Aptos"/>
                <a:cs typeface="Aptos"/>
              </a:rPr>
              <a:t>MSDS 432 Group 4 | Smart City Zero-Disk IoT Infrastructure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552967-9960-45D9-A9E1-AB0E78E0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AB4C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AB4C5"/>
                </a:solidFill>
                <a:latin typeface="Aptos"/>
                <a:ea typeface="Aptos"/>
                <a:cs typeface="Aptos"/>
              </a:rPr>
              <a:t>18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835FDA-214F-43B5-B441-9F16D8BE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2FFC6E-9E7D-43C7-9DDB-50A29F27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D6D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DD6D0"/>
                </a:solidFill>
                <a:latin typeface="Aptos"/>
                <a:ea typeface="Aptos"/>
                <a:cs typeface="Aptos"/>
              </a:rPr>
              <a:t>SUBMISSION READY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F23C54-785E-409D-9997-35BB2449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9334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final package is reproducible, reviewable, and ready to refresh.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166FFE-E7B9-41F7-AC4E-BEC8771D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885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4C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AB4C5"/>
                </a:solidFill>
                <a:latin typeface="Aptos"/>
                <a:ea typeface="Aptos"/>
                <a:cs typeface="Aptos"/>
              </a:rPr>
              <a:t>If AI Agent work lands later, pull latest main, update final materials, rerun checks, and rebuild the zip.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9AC40E-59DA-4816-9DDB-F66FA36A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4095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AB2FD0-2786-466C-A651-C0170AD0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71800"/>
            <a:ext cx="4095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9E5492-9435-4E21-A99C-8D01C396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4095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E9558C-4D58-4B3F-9323-74BF632F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575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D6D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3DD6D0"/>
                </a:solidFill>
                <a:latin typeface="Aptos"/>
                <a:ea typeface="Aptos"/>
                <a:cs typeface="Aptos"/>
              </a:rPr>
              <a:t>Final commands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4D5FDC-928B-4FBF-94F9-193A6951E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10000"/>
            <a:ext cx="304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make phase3-check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make phase3-package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make phase3-package-list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D8FD57-3AC4-40A5-A890-B6E87870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28950"/>
            <a:ext cx="4095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14"/>
          </a:solidFill>
          <a:ln xmlns:a="http://schemas.openxmlformats.org/drawingml/2006/main" w="0">
            <a:solidFill>
              <a:srgbClr val="050A1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CCAFA0-452E-4CDC-84BE-9350138A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71800"/>
            <a:ext cx="4095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23314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A5975D-FD7E-43D9-B65A-33F8349F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14650"/>
            <a:ext cx="4095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63C"/>
          </a:solidFill>
          <a:ln xmlns:a="http://schemas.openxmlformats.org/drawingml/2006/main" w="9525">
            <a:solidFill>
              <a:srgbClr val="34445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C58168-C257-411B-A0B4-5A0931A2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575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4D65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84D65A"/>
                </a:solidFill>
                <a:latin typeface="Aptos"/>
                <a:ea typeface="Aptos"/>
                <a:cs typeface="Aptos"/>
              </a:rPr>
              <a:t>Submit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161CBB-4181-4537-80B7-4BAD410A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10000"/>
            <a:ext cx="3048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dist/Project_Phase_3_Group4.zip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Deck backup: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docs/final/Project_Phase_3_Group4_Presentation.pdf</a:t>
            </a:r>
          </a:p>
        </p:txBody>
      </p:sp>
    </p:spTree>
    <p:extLst>
      <p:ext uri="{BB962C8B-B14F-4D97-AF65-F5344CB8AC3E}">
        <p14:creationId xmlns:p14="http://schemas.microsoft.com/office/powerpoint/2010/main" val="16782369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2026-05-31T14:18:21.0590000Z</dcterms:created>
  <dcterms:modified xsi:type="dcterms:W3CDTF">2026-05-31T14:18:21.0590000Z</dcterms:modified>
</coreProperties>
</file>